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Noto Sans JP" panose="020B0200000000000000" pitchFamily="50" charset="-128"/>
      <p:regular r:id="rId12"/>
      <p:bold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/>
        </p:nvSpPr>
        <p:spPr>
          <a:xfrm>
            <a:off x="771525" y="2387947"/>
            <a:ext cx="5390673" cy="1500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 dirty="0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「</a:t>
            </a:r>
            <a:r>
              <a:rPr lang="en-US" sz="3750" b="1" i="0" u="none" strike="noStrike" cap="none" dirty="0" err="1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少し不便」を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750" b="1" i="0" u="none" strike="noStrike" cap="none" dirty="0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3750" b="1" i="0" u="none" strike="noStrike" cap="none" dirty="0" err="1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自動化する</a:t>
            </a:r>
            <a:endParaRPr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771525" y="3769072"/>
            <a:ext cx="5133975" cy="58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Noto Sans JP"/>
                <a:ea typeface="Noto Sans JP"/>
                <a:cs typeface="Noto Sans JP"/>
                <a:sym typeface="Noto Sans JP"/>
              </a:rPr>
              <a:t>Flutterによるシフト・給与管理アプリ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0" i="0" u="none" strike="noStrike" cap="none">
                <a:solidFill>
                  <a:srgbClr val="475569"/>
                </a:solidFill>
                <a:latin typeface="Noto Sans JP"/>
                <a:ea typeface="Noto Sans JP"/>
                <a:cs typeface="Noto Sans JP"/>
                <a:sym typeface="Noto Sans JP"/>
              </a:rPr>
              <a:t> 「ShiftCalc」の開発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771525" y="4736752"/>
            <a:ext cx="513397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dirty="0">
                <a:solidFill>
                  <a:srgbClr val="64748B"/>
                </a:solidFill>
                <a:latin typeface="Noto Sans JP"/>
                <a:ea typeface="Noto Sans JP"/>
                <a:sym typeface="Noto Sans JP"/>
              </a:rPr>
              <a:t>小林　健人</a:t>
            </a:r>
            <a:endParaRPr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33F7F6A-A2AF-DD34-E682-22B82B5D70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72" b="2130"/>
          <a:stretch>
            <a:fillRect/>
          </a:stretch>
        </p:blipFill>
        <p:spPr>
          <a:xfrm>
            <a:off x="5586984" y="568706"/>
            <a:ext cx="6358604" cy="57205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2461170"/>
            <a:ext cx="3359199" cy="272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16474" y="2461170"/>
            <a:ext cx="3359199" cy="272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1424" y="2461170"/>
            <a:ext cx="3359199" cy="27241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1066800" y="3480345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多忙な学生生活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1066800" y="3937545"/>
            <a:ext cx="2768649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学業とアルバイトを両立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スケジュール調整に日々追われる状況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dirty="0"/>
          </a:p>
        </p:txBody>
      </p:sp>
      <p:sp>
        <p:nvSpPr>
          <p:cNvPr id="109" name="Google Shape;109;p14"/>
          <p:cNvSpPr txBox="1"/>
          <p:nvPr/>
        </p:nvSpPr>
        <p:spPr>
          <a:xfrm>
            <a:off x="4711749" y="3480345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予定管理の煩雑化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4711749" y="3937545"/>
            <a:ext cx="276864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勤務日数やシフトパターンが増加。スケジュールを把握しきれなくなる不便が発生。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8356699" y="3480345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手動計算の手間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8356699" y="3937545"/>
            <a:ext cx="276864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「今月いくら稼げたか」「目標まであと何時間か」を電卓で手計算する時間的ロス。</a:t>
            </a:r>
            <a:endParaRPr/>
          </a:p>
        </p:txBody>
      </p:sp>
      <p:pic>
        <p:nvPicPr>
          <p:cNvPr id="113" name="Google Shape;113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6800" y="2880270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1749" y="2880270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56699" y="2880270"/>
            <a:ext cx="266848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1. 開発の背景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42670" y="1369665"/>
            <a:ext cx="4577804" cy="4907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1525" y="2503140"/>
            <a:ext cx="5594895" cy="1224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1525" y="3918495"/>
            <a:ext cx="5594895" cy="1224855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5"/>
          <p:cNvSpPr txBox="1"/>
          <p:nvPr/>
        </p:nvSpPr>
        <p:spPr>
          <a:xfrm>
            <a:off x="7137945" y="3523208"/>
            <a:ext cx="4186617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44403C"/>
                </a:solidFill>
                <a:latin typeface="Noto Sans JP"/>
                <a:ea typeface="Noto Sans JP"/>
                <a:cs typeface="Noto Sans JP"/>
                <a:sym typeface="Noto Sans JP"/>
              </a:rPr>
              <a:t>多機能すぎる既存アプリ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7137945" y="3980408"/>
            <a:ext cx="3987254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57534E"/>
                </a:solidFill>
                <a:latin typeface="Noto Sans JP"/>
                <a:ea typeface="Noto Sans JP"/>
                <a:cs typeface="Noto Sans JP"/>
                <a:sym typeface="Noto Sans JP"/>
              </a:rPr>
              <a:t>高機能すぎるアプリは設定手順が多く、毎日の入力ステップが複雑なため、途中で挫折してしまうことが多々ありました。</a:t>
            </a:r>
            <a:endParaRPr/>
          </a:p>
        </p:txBody>
      </p:sp>
      <p:pic>
        <p:nvPicPr>
          <p:cNvPr id="132" name="Google Shape;132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137945" y="2923133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47750" y="2779365"/>
            <a:ext cx="177849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5"/>
          <p:cNvSpPr txBox="1"/>
          <p:nvPr/>
        </p:nvSpPr>
        <p:spPr>
          <a:xfrm>
            <a:off x="1416099" y="2731740"/>
            <a:ext cx="495780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F1239"/>
                </a:solidFill>
                <a:latin typeface="Noto Sans JP"/>
                <a:ea typeface="Noto Sans JP"/>
                <a:cs typeface="Noto Sans JP"/>
                <a:sym typeface="Noto Sans JP"/>
              </a:rPr>
              <a:t>計算の複雑さ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1416099" y="3046065"/>
            <a:ext cx="4721721" cy="549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 dirty="0" err="1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平日と土日で時給が変わる場合の計算が困難</a:t>
            </a:r>
            <a:r>
              <a:rPr lang="en-US" sz="1275" b="0" i="0" u="none" strike="noStrike" cap="none" dirty="0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 dirty="0" err="1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複雑な給与計算を毎回行うのは面倒</a:t>
            </a:r>
            <a:r>
              <a:rPr lang="en-US" sz="1275" b="0" i="0" u="none" strike="noStrike" cap="none" dirty="0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dirty="0"/>
          </a:p>
        </p:txBody>
      </p:sp>
      <p:pic>
        <p:nvPicPr>
          <p:cNvPr id="136" name="Google Shape;136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7750" y="4194720"/>
            <a:ext cx="177849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5"/>
          <p:cNvSpPr txBox="1"/>
          <p:nvPr/>
        </p:nvSpPr>
        <p:spPr>
          <a:xfrm>
            <a:off x="1416099" y="4147095"/>
            <a:ext cx="495780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F1239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入力の手間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1416099" y="4461420"/>
            <a:ext cx="4721721" cy="549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 dirty="0" err="1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実際の勤務時間がズレた際の後からの微調整が</a:t>
            </a:r>
            <a:r>
              <a:rPr lang="ja-JP" altLang="en-US" sz="1275" dirty="0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面倒</a:t>
            </a:r>
            <a:r>
              <a:rPr lang="en-US" sz="1275" b="0" i="0" u="none" strike="noStrike" cap="none" dirty="0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 dirty="0" err="1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手動の修正コストが大きい</a:t>
            </a:r>
            <a:r>
              <a:rPr lang="en-US" sz="1275" b="0" i="0" u="none" strike="noStrike" cap="none" dirty="0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dirty="0"/>
          </a:p>
        </p:txBody>
      </p:sp>
      <p:sp>
        <p:nvSpPr>
          <p:cNvPr id="139" name="Google Shape;139;p15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2. 現状の課題</a:t>
            </a:r>
            <a:endParaRPr/>
          </a:p>
        </p:txBody>
      </p:sp>
      <p:sp>
        <p:nvSpPr>
          <p:cNvPr id="140" name="Google Shape;140;p15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2394495"/>
            <a:ext cx="5594895" cy="128587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6"/>
          <p:cNvSpPr txBox="1"/>
          <p:nvPr/>
        </p:nvSpPr>
        <p:spPr>
          <a:xfrm>
            <a:off x="1057275" y="2584995"/>
            <a:ext cx="5324571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極限まで無駄を削ぎ落としたコンセプト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1057275" y="2918370"/>
            <a:ext cx="507102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手間の最小化と、一目見てすぐに給与がわかる「シームレスな可視化」を軸に設計。</a:t>
            </a:r>
            <a:endParaRPr/>
          </a:p>
        </p:txBody>
      </p:sp>
      <p:pic>
        <p:nvPicPr>
          <p:cNvPr id="155" name="Google Shape;155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1525" y="3947070"/>
            <a:ext cx="177849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1092249" y="3918495"/>
            <a:ext cx="527417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退勤はワンタップ：</a:t>
            </a: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実際の退勤時にボタンを1回押すだけで、予定をリアルタイムに上書きして給与計算。</a:t>
            </a:r>
            <a:endParaRPr/>
          </a:p>
        </p:txBody>
      </p:sp>
      <p:pic>
        <p:nvPicPr>
          <p:cNvPr id="157" name="Google Shape;15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1525" y="4709070"/>
            <a:ext cx="177849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/>
        </p:nvSpPr>
        <p:spPr>
          <a:xfrm>
            <a:off x="1092249" y="4680495"/>
            <a:ext cx="527417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直感的な連動：</a:t>
            </a: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カレンダーとダッシュボードが常に同期し、一瞬で現在の稼ぎを確認可能。</a:t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3. 解決策の提案：「ShiftCalc」</a:t>
            </a:r>
            <a:endParaRPr/>
          </a:p>
        </p:txBody>
      </p:sp>
      <p:sp>
        <p:nvSpPr>
          <p:cNvPr id="160" name="Google Shape;160;p16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0AB0171-2C5A-6862-D9AB-002BDA64CD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4731" y="1448356"/>
            <a:ext cx="5433531" cy="47476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16474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1424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7"/>
          <p:cNvSpPr txBox="1"/>
          <p:nvPr/>
        </p:nvSpPr>
        <p:spPr>
          <a:xfrm>
            <a:off x="1066800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【ホーム】即時確認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1066800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起動直後に「今月の見込給料」と「今日の稼ぎ」を最大サイズで表示。モチベーション維持を促進します。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4711749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【カレンダー】詳細把握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4711749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日ごとの勤務詳細（時間・給与）を一元化。スケジュールと現在の給与予測が完全にリンクします。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8356699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【安全制御】自動ロック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8356699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予定外の日や退勤済みの日にはボタンを自動でロック。誤タップによる誤判定を物理的に防ぐ安心設計。</a:t>
            </a:r>
            <a:endParaRPr/>
          </a:p>
        </p:txBody>
      </p:sp>
      <p:pic>
        <p:nvPicPr>
          <p:cNvPr id="179" name="Google Shape;179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6800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1749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56699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7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4. 主要な機能と操作の流れ</a:t>
            </a:r>
            <a:endParaRPr/>
          </a:p>
        </p:txBody>
      </p:sp>
      <p:sp>
        <p:nvSpPr>
          <p:cNvPr id="183" name="Google Shape;183;p17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93502" y="2356395"/>
            <a:ext cx="813196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25430" y="2904083"/>
            <a:ext cx="645467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25430" y="3942308"/>
            <a:ext cx="418951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8"/>
          <p:cNvSpPr txBox="1"/>
          <p:nvPr/>
        </p:nvSpPr>
        <p:spPr>
          <a:xfrm>
            <a:off x="6613773" y="2904083"/>
            <a:ext cx="504703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複雑な日付処理の効率化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6613773" y="3189833"/>
            <a:ext cx="480670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土日の自動識別、時給パターンの自動適用など、不具合が発生しやすい条件分岐の最適化。</a:t>
            </a:r>
            <a:endParaRPr/>
          </a:p>
        </p:txBody>
      </p:sp>
      <p:sp>
        <p:nvSpPr>
          <p:cNvPr id="199" name="Google Shape;199;p18"/>
          <p:cNvSpPr txBox="1"/>
          <p:nvPr/>
        </p:nvSpPr>
        <p:spPr>
          <a:xfrm>
            <a:off x="6387256" y="3942308"/>
            <a:ext cx="5284879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状態管理の最適化</a:t>
            </a: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6387256" y="4228058"/>
            <a:ext cx="5033218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複数の画面をまたいだ際に生じやすいデータの矛盾を排除し、滑らかで不整合のないデータ同期を実現。</a:t>
            </a:r>
            <a:endParaRPr/>
          </a:p>
        </p:txBody>
      </p:sp>
      <p:sp>
        <p:nvSpPr>
          <p:cNvPr id="201" name="Google Shape;201;p18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5. 開発におけるAIの活用</a:t>
            </a:r>
            <a:endParaRPr/>
          </a:p>
        </p:txBody>
      </p:sp>
      <p:sp>
        <p:nvSpPr>
          <p:cNvPr id="202" name="Google Shape;202;p18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67BCA96-2258-4148-A671-C5F4B6A028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34785" y="2119085"/>
            <a:ext cx="3254022" cy="31701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16474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1424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9"/>
          <p:cNvSpPr txBox="1"/>
          <p:nvPr/>
        </p:nvSpPr>
        <p:spPr>
          <a:xfrm>
            <a:off x="1066800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生活設計の簡略化</a:t>
            </a:r>
            <a:endParaRPr/>
          </a:p>
        </p:txBody>
      </p:sp>
      <p:sp>
        <p:nvSpPr>
          <p:cNvPr id="216" name="Google Shape;216;p19"/>
          <p:cNvSpPr txBox="1"/>
          <p:nvPr/>
        </p:nvSpPr>
        <p:spPr>
          <a:xfrm>
            <a:off x="1066800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手計算の手間やストレスから完全に解放。リアルタイムに見込額がわかるため、支出のコントロールが容易になります。</a:t>
            </a:r>
            <a:endParaRPr/>
          </a:p>
        </p:txBody>
      </p:sp>
      <p:sp>
        <p:nvSpPr>
          <p:cNvPr id="217" name="Google Shape;217;p19"/>
          <p:cNvSpPr txBox="1"/>
          <p:nvPr/>
        </p:nvSpPr>
        <p:spPr>
          <a:xfrm>
            <a:off x="4711749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毎日続くシンプルさ</a:t>
            </a:r>
            <a:endParaRPr/>
          </a:p>
        </p:txBody>
      </p:sp>
      <p:sp>
        <p:nvSpPr>
          <p:cNvPr id="218" name="Google Shape;218;p19"/>
          <p:cNvSpPr txBox="1"/>
          <p:nvPr/>
        </p:nvSpPr>
        <p:spPr>
          <a:xfrm>
            <a:off x="4711749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面倒な詳細入力が不要になり、誰でも挫折することなく、アプリによる自己管理を無理なく継続可能にします。</a:t>
            </a:r>
            <a:endParaRPr/>
          </a:p>
        </p:txBody>
      </p:sp>
      <p:sp>
        <p:nvSpPr>
          <p:cNvPr id="219" name="Google Shape;219;p19"/>
          <p:cNvSpPr txBox="1"/>
          <p:nvPr/>
        </p:nvSpPr>
        <p:spPr>
          <a:xfrm>
            <a:off x="8356699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掛け持ち一元管理</a:t>
            </a:r>
            <a:endParaRPr/>
          </a:p>
        </p:txBody>
      </p:sp>
      <p:sp>
        <p:nvSpPr>
          <p:cNvPr id="220" name="Google Shape;220;p19"/>
          <p:cNvSpPr txBox="1"/>
          <p:nvPr/>
        </p:nvSpPr>
        <p:spPr>
          <a:xfrm>
            <a:off x="8356699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複数のアルバイトの変則時給を設定可能。複数のシフトスケジュールであっても本アプリ1つで集約できます。</a:t>
            </a:r>
            <a:endParaRPr/>
          </a:p>
        </p:txBody>
      </p:sp>
      <p:pic>
        <p:nvPicPr>
          <p:cNvPr id="221" name="Google Shape;221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6800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1749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56699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9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6. 本アプリのメリット</a:t>
            </a:r>
            <a:endParaRPr/>
          </a:p>
        </p:txBody>
      </p:sp>
      <p:sp>
        <p:nvSpPr>
          <p:cNvPr id="225" name="Google Shape;225;p19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3375570"/>
            <a:ext cx="3194595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98627" y="3375570"/>
            <a:ext cx="3194595" cy="179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225730" y="3375570"/>
            <a:ext cx="3194595" cy="156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/>
          <p:nvPr/>
        </p:nvSpPr>
        <p:spPr>
          <a:xfrm>
            <a:off x="1303883" y="3289845"/>
            <a:ext cx="9583935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/>
          <p:nvPr/>
        </p:nvSpPr>
        <p:spPr>
          <a:xfrm>
            <a:off x="2225873" y="286122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47625" cap="flat" cmpd="sng">
            <a:solidFill>
              <a:srgbClr val="0EA5E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5952976" y="286122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47625" cap="flat" cmpd="sng">
            <a:solidFill>
              <a:srgbClr val="0EA5E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0"/>
          <p:cNvSpPr/>
          <p:nvPr/>
        </p:nvSpPr>
        <p:spPr>
          <a:xfrm>
            <a:off x="9680078" y="286122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47625" cap="flat" cmpd="sng">
            <a:solidFill>
              <a:srgbClr val="0EA5E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 txBox="1"/>
          <p:nvPr/>
        </p:nvSpPr>
        <p:spPr>
          <a:xfrm>
            <a:off x="1268015" y="3613695"/>
            <a:ext cx="2582979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成果</a:t>
            </a:r>
            <a:endParaRPr/>
          </a:p>
        </p:txBody>
      </p:sp>
      <p:sp>
        <p:nvSpPr>
          <p:cNvPr id="243" name="Google Shape;243;p20"/>
          <p:cNvSpPr txBox="1"/>
          <p:nvPr/>
        </p:nvSpPr>
        <p:spPr>
          <a:xfrm>
            <a:off x="1009650" y="4013745"/>
            <a:ext cx="271834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身近な不便をFlutter技術で解決。手軽さと即時性を重視した「動くプロトタイプ」を形にできました。</a:t>
            </a:r>
            <a:endParaRPr/>
          </a:p>
        </p:txBody>
      </p:sp>
      <p:sp>
        <p:nvSpPr>
          <p:cNvPr id="244" name="Google Shape;244;p20"/>
          <p:cNvSpPr txBox="1"/>
          <p:nvPr/>
        </p:nvSpPr>
        <p:spPr>
          <a:xfrm>
            <a:off x="4995118" y="3613695"/>
            <a:ext cx="2582979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今後の課題</a:t>
            </a:r>
            <a:endParaRPr/>
          </a:p>
        </p:txBody>
      </p:sp>
      <p:sp>
        <p:nvSpPr>
          <p:cNvPr id="245" name="Google Shape;245;p20"/>
          <p:cNvSpPr txBox="1"/>
          <p:nvPr/>
        </p:nvSpPr>
        <p:spPr>
          <a:xfrm>
            <a:off x="4736752" y="4013745"/>
            <a:ext cx="271834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ローカル環境での一時保持から、ローカルデータベースやクラウド連携を用いた「完全なデータの永続化」の実装。</a:t>
            </a:r>
            <a:endParaRPr/>
          </a:p>
        </p:txBody>
      </p:sp>
      <p:sp>
        <p:nvSpPr>
          <p:cNvPr id="246" name="Google Shape;246;p20"/>
          <p:cNvSpPr txBox="1"/>
          <p:nvPr/>
        </p:nvSpPr>
        <p:spPr>
          <a:xfrm>
            <a:off x="8722221" y="3613695"/>
            <a:ext cx="2582979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展望</a:t>
            </a:r>
            <a:endParaRPr/>
          </a:p>
        </p:txBody>
      </p:sp>
      <p:sp>
        <p:nvSpPr>
          <p:cNvPr id="247" name="Google Shape;247;p20"/>
          <p:cNvSpPr txBox="1"/>
          <p:nvPr/>
        </p:nvSpPr>
        <p:spPr>
          <a:xfrm>
            <a:off x="8463855" y="4013745"/>
            <a:ext cx="271834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月ごと・アルバイトごとの「収入推移のビジュアルグラフ化」など、多角的な分析機能の実装を目指す。</a:t>
            </a:r>
            <a:endParaRPr/>
          </a:p>
        </p:txBody>
      </p:sp>
      <p:pic>
        <p:nvPicPr>
          <p:cNvPr id="248" name="Google Shape;248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09650" y="3651795"/>
            <a:ext cx="16311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36752" y="3651795"/>
            <a:ext cx="16311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63855" y="3651795"/>
            <a:ext cx="16311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0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7. まとめと今後の展望</a:t>
            </a:r>
            <a:endParaRPr/>
          </a:p>
        </p:txBody>
      </p:sp>
      <p:sp>
        <p:nvSpPr>
          <p:cNvPr id="252" name="Google Shape;252;p20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21"/>
          <p:cNvSpPr txBox="1"/>
          <p:nvPr/>
        </p:nvSpPr>
        <p:spPr>
          <a:xfrm>
            <a:off x="2860167" y="3021901"/>
            <a:ext cx="72580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0EA5E9"/>
                </a:solidFill>
                <a:latin typeface="Noto Sans JP"/>
                <a:ea typeface="Noto Sans JP"/>
                <a:cs typeface="Noto Sans JP"/>
                <a:sym typeface="Noto Sans JP"/>
              </a:rPr>
              <a:t>ご清聴ありがとうございました</a:t>
            </a:r>
            <a:r>
              <a:rPr lang="en-US" sz="3600" b="1" i="0" u="none" strike="noStrike" cap="none" dirty="0">
                <a:solidFill>
                  <a:srgbClr val="0EA5E9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208</Words>
  <Application>Microsoft Office PowerPoint</Application>
  <PresentationFormat>ワイド画面</PresentationFormat>
  <Paragraphs>52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Arial</vt:lpstr>
      <vt:lpstr>Calibri</vt:lpstr>
      <vt:lpstr>Noto Sans JP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小林 健人(zeal23418160)</cp:lastModifiedBy>
  <cp:revision>4</cp:revision>
  <dcterms:modified xsi:type="dcterms:W3CDTF">2026-07-14T07:13:31Z</dcterms:modified>
</cp:coreProperties>
</file>