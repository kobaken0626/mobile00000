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5" r:id="rId7"/>
    <p:sldId id="261" r:id="rId8"/>
    <p:sldId id="266" r:id="rId9"/>
    <p:sldId id="267" r:id="rId10"/>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84" d="100"/>
          <a:sy n="84" d="100"/>
        </p:scale>
        <p:origin x="658" y="7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8F49B4E-5BD5-5F27-2273-9EFF8BC9D225}"/>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120EC5CC-3E2F-2C5D-A400-17FBC7683F3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05E49179-616E-AB73-798D-B535E802FD96}"/>
              </a:ext>
            </a:extLst>
          </p:cNvPr>
          <p:cNvSpPr>
            <a:spLocks noGrp="1"/>
          </p:cNvSpPr>
          <p:nvPr>
            <p:ph type="dt" sz="half" idx="10"/>
          </p:nvPr>
        </p:nvSpPr>
        <p:spPr/>
        <p:txBody>
          <a:bodyPr/>
          <a:lstStyle/>
          <a:p>
            <a:fld id="{1FA684D6-C116-4B88-A091-87E1D0234432}" type="datetimeFigureOut">
              <a:rPr kumimoji="1" lang="ja-JP" altLang="en-US" smtClean="0"/>
              <a:t>2026/6/17</a:t>
            </a:fld>
            <a:endParaRPr kumimoji="1" lang="ja-JP" altLang="en-US"/>
          </a:p>
        </p:txBody>
      </p:sp>
      <p:sp>
        <p:nvSpPr>
          <p:cNvPr id="5" name="フッター プレースホルダー 4">
            <a:extLst>
              <a:ext uri="{FF2B5EF4-FFF2-40B4-BE49-F238E27FC236}">
                <a16:creationId xmlns:a16="http://schemas.microsoft.com/office/drawing/2014/main" id="{5D883F8C-09A2-1694-0C95-41F69B60E2E4}"/>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13B03D28-458E-6E81-30AE-B11D3C9508CC}"/>
              </a:ext>
            </a:extLst>
          </p:cNvPr>
          <p:cNvSpPr>
            <a:spLocks noGrp="1"/>
          </p:cNvSpPr>
          <p:nvPr>
            <p:ph type="sldNum" sz="quarter" idx="12"/>
          </p:nvPr>
        </p:nvSpPr>
        <p:spPr/>
        <p:txBody>
          <a:bodyPr/>
          <a:lstStyle/>
          <a:p>
            <a:fld id="{24666DD8-89E4-4801-A2BE-4405492756BB}" type="slidenum">
              <a:rPr kumimoji="1" lang="ja-JP" altLang="en-US" smtClean="0"/>
              <a:t>‹#›</a:t>
            </a:fld>
            <a:endParaRPr kumimoji="1" lang="ja-JP" altLang="en-US"/>
          </a:p>
        </p:txBody>
      </p:sp>
    </p:spTree>
    <p:extLst>
      <p:ext uri="{BB962C8B-B14F-4D97-AF65-F5344CB8AC3E}">
        <p14:creationId xmlns:p14="http://schemas.microsoft.com/office/powerpoint/2010/main" val="22591919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C2EB25F-5172-974E-91DC-D9BD4F6C05E7}"/>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2BC1F70B-067C-501F-7763-1DBCC7CBBDCA}"/>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E9FC5CD9-AC40-C4FA-7B19-ED6ED50ED134}"/>
              </a:ext>
            </a:extLst>
          </p:cNvPr>
          <p:cNvSpPr>
            <a:spLocks noGrp="1"/>
          </p:cNvSpPr>
          <p:nvPr>
            <p:ph type="dt" sz="half" idx="10"/>
          </p:nvPr>
        </p:nvSpPr>
        <p:spPr/>
        <p:txBody>
          <a:bodyPr/>
          <a:lstStyle/>
          <a:p>
            <a:fld id="{1FA684D6-C116-4B88-A091-87E1D0234432}" type="datetimeFigureOut">
              <a:rPr kumimoji="1" lang="ja-JP" altLang="en-US" smtClean="0"/>
              <a:t>2026/6/17</a:t>
            </a:fld>
            <a:endParaRPr kumimoji="1" lang="ja-JP" altLang="en-US"/>
          </a:p>
        </p:txBody>
      </p:sp>
      <p:sp>
        <p:nvSpPr>
          <p:cNvPr id="5" name="フッター プレースホルダー 4">
            <a:extLst>
              <a:ext uri="{FF2B5EF4-FFF2-40B4-BE49-F238E27FC236}">
                <a16:creationId xmlns:a16="http://schemas.microsoft.com/office/drawing/2014/main" id="{F66E4C5D-7510-B39C-7B8E-2C0431C9BFA9}"/>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F9C03430-2ED6-2B54-6B34-F9BEC24C37C3}"/>
              </a:ext>
            </a:extLst>
          </p:cNvPr>
          <p:cNvSpPr>
            <a:spLocks noGrp="1"/>
          </p:cNvSpPr>
          <p:nvPr>
            <p:ph type="sldNum" sz="quarter" idx="12"/>
          </p:nvPr>
        </p:nvSpPr>
        <p:spPr/>
        <p:txBody>
          <a:bodyPr/>
          <a:lstStyle/>
          <a:p>
            <a:fld id="{24666DD8-89E4-4801-A2BE-4405492756BB}" type="slidenum">
              <a:rPr kumimoji="1" lang="ja-JP" altLang="en-US" smtClean="0"/>
              <a:t>‹#›</a:t>
            </a:fld>
            <a:endParaRPr kumimoji="1" lang="ja-JP" altLang="en-US"/>
          </a:p>
        </p:txBody>
      </p:sp>
    </p:spTree>
    <p:extLst>
      <p:ext uri="{BB962C8B-B14F-4D97-AF65-F5344CB8AC3E}">
        <p14:creationId xmlns:p14="http://schemas.microsoft.com/office/powerpoint/2010/main" val="309659858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5D08E38-2683-36FD-DB45-A01A4D7F67A7}"/>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51DEA92C-BE49-16A7-163D-AEF2F296B5F6}"/>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FECDF947-04BB-12CC-EB58-F632EDF8CB38}"/>
              </a:ext>
            </a:extLst>
          </p:cNvPr>
          <p:cNvSpPr>
            <a:spLocks noGrp="1"/>
          </p:cNvSpPr>
          <p:nvPr>
            <p:ph type="dt" sz="half" idx="10"/>
          </p:nvPr>
        </p:nvSpPr>
        <p:spPr/>
        <p:txBody>
          <a:bodyPr/>
          <a:lstStyle/>
          <a:p>
            <a:fld id="{1FA684D6-C116-4B88-A091-87E1D0234432}" type="datetimeFigureOut">
              <a:rPr kumimoji="1" lang="ja-JP" altLang="en-US" smtClean="0"/>
              <a:t>2026/6/17</a:t>
            </a:fld>
            <a:endParaRPr kumimoji="1" lang="ja-JP" altLang="en-US"/>
          </a:p>
        </p:txBody>
      </p:sp>
      <p:sp>
        <p:nvSpPr>
          <p:cNvPr id="5" name="フッター プレースホルダー 4">
            <a:extLst>
              <a:ext uri="{FF2B5EF4-FFF2-40B4-BE49-F238E27FC236}">
                <a16:creationId xmlns:a16="http://schemas.microsoft.com/office/drawing/2014/main" id="{70D51683-0F96-EFDA-C531-CADA7A4AB182}"/>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C1311C98-A635-D9F6-490D-007BE1027019}"/>
              </a:ext>
            </a:extLst>
          </p:cNvPr>
          <p:cNvSpPr>
            <a:spLocks noGrp="1"/>
          </p:cNvSpPr>
          <p:nvPr>
            <p:ph type="sldNum" sz="quarter" idx="12"/>
          </p:nvPr>
        </p:nvSpPr>
        <p:spPr/>
        <p:txBody>
          <a:bodyPr/>
          <a:lstStyle/>
          <a:p>
            <a:fld id="{24666DD8-89E4-4801-A2BE-4405492756BB}" type="slidenum">
              <a:rPr kumimoji="1" lang="ja-JP" altLang="en-US" smtClean="0"/>
              <a:t>‹#›</a:t>
            </a:fld>
            <a:endParaRPr kumimoji="1" lang="ja-JP" altLang="en-US"/>
          </a:p>
        </p:txBody>
      </p:sp>
    </p:spTree>
    <p:extLst>
      <p:ext uri="{BB962C8B-B14F-4D97-AF65-F5344CB8AC3E}">
        <p14:creationId xmlns:p14="http://schemas.microsoft.com/office/powerpoint/2010/main" val="37749230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E93F93D-F55C-D990-BC36-05350E7B3BA1}"/>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17773AE1-1053-4E71-DFA7-584871C197E1}"/>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9E9C9833-D896-2653-9961-B33D0C634907}"/>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207A097D-D2D1-6B99-9FAE-BA4CCC5BD6DD}"/>
              </a:ext>
            </a:extLst>
          </p:cNvPr>
          <p:cNvSpPr>
            <a:spLocks noGrp="1"/>
          </p:cNvSpPr>
          <p:nvPr>
            <p:ph type="dt" sz="half" idx="10"/>
          </p:nvPr>
        </p:nvSpPr>
        <p:spPr/>
        <p:txBody>
          <a:bodyPr/>
          <a:lstStyle/>
          <a:p>
            <a:fld id="{1FA684D6-C116-4B88-A091-87E1D0234432}" type="datetimeFigureOut">
              <a:rPr kumimoji="1" lang="ja-JP" altLang="en-US" smtClean="0"/>
              <a:t>2026/6/17</a:t>
            </a:fld>
            <a:endParaRPr kumimoji="1" lang="ja-JP" altLang="en-US"/>
          </a:p>
        </p:txBody>
      </p:sp>
      <p:sp>
        <p:nvSpPr>
          <p:cNvPr id="6" name="フッター プレースホルダー 5">
            <a:extLst>
              <a:ext uri="{FF2B5EF4-FFF2-40B4-BE49-F238E27FC236}">
                <a16:creationId xmlns:a16="http://schemas.microsoft.com/office/drawing/2014/main" id="{70EA6F32-B959-F91E-A19C-4E813E8B63B2}"/>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7E54058B-A617-CDA3-CC4C-3F1B82C0B0AC}"/>
              </a:ext>
            </a:extLst>
          </p:cNvPr>
          <p:cNvSpPr>
            <a:spLocks noGrp="1"/>
          </p:cNvSpPr>
          <p:nvPr>
            <p:ph type="sldNum" sz="quarter" idx="12"/>
          </p:nvPr>
        </p:nvSpPr>
        <p:spPr/>
        <p:txBody>
          <a:bodyPr/>
          <a:lstStyle/>
          <a:p>
            <a:fld id="{24666DD8-89E4-4801-A2BE-4405492756BB}" type="slidenum">
              <a:rPr kumimoji="1" lang="ja-JP" altLang="en-US" smtClean="0"/>
              <a:t>‹#›</a:t>
            </a:fld>
            <a:endParaRPr kumimoji="1" lang="ja-JP" altLang="en-US"/>
          </a:p>
        </p:txBody>
      </p:sp>
    </p:spTree>
    <p:extLst>
      <p:ext uri="{BB962C8B-B14F-4D97-AF65-F5344CB8AC3E}">
        <p14:creationId xmlns:p14="http://schemas.microsoft.com/office/powerpoint/2010/main" val="114919594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D740B4E-B72E-9BFF-63DF-55BC15836292}"/>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0B8E6522-D85B-0152-1962-E607B47596D6}"/>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99EAAF12-09E6-6288-9D1F-D4DE5A38508C}"/>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A6EA45A5-5A24-1345-852E-AB5630EE0C31}"/>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74CEC84E-2967-13F8-3F11-D7D84ABC5A6C}"/>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E97BD69B-4EA1-1390-1C4C-8B3B6A45546C}"/>
              </a:ext>
            </a:extLst>
          </p:cNvPr>
          <p:cNvSpPr>
            <a:spLocks noGrp="1"/>
          </p:cNvSpPr>
          <p:nvPr>
            <p:ph type="dt" sz="half" idx="10"/>
          </p:nvPr>
        </p:nvSpPr>
        <p:spPr/>
        <p:txBody>
          <a:bodyPr/>
          <a:lstStyle/>
          <a:p>
            <a:fld id="{1FA684D6-C116-4B88-A091-87E1D0234432}" type="datetimeFigureOut">
              <a:rPr kumimoji="1" lang="ja-JP" altLang="en-US" smtClean="0"/>
              <a:t>2026/6/17</a:t>
            </a:fld>
            <a:endParaRPr kumimoji="1" lang="ja-JP" altLang="en-US"/>
          </a:p>
        </p:txBody>
      </p:sp>
      <p:sp>
        <p:nvSpPr>
          <p:cNvPr id="8" name="フッター プレースホルダー 7">
            <a:extLst>
              <a:ext uri="{FF2B5EF4-FFF2-40B4-BE49-F238E27FC236}">
                <a16:creationId xmlns:a16="http://schemas.microsoft.com/office/drawing/2014/main" id="{3A3B64A7-D25F-5EE6-F55F-12535EF0FF85}"/>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998FC3BD-A48B-E04F-43E1-845D701730CA}"/>
              </a:ext>
            </a:extLst>
          </p:cNvPr>
          <p:cNvSpPr>
            <a:spLocks noGrp="1"/>
          </p:cNvSpPr>
          <p:nvPr>
            <p:ph type="sldNum" sz="quarter" idx="12"/>
          </p:nvPr>
        </p:nvSpPr>
        <p:spPr/>
        <p:txBody>
          <a:bodyPr/>
          <a:lstStyle/>
          <a:p>
            <a:fld id="{24666DD8-89E4-4801-A2BE-4405492756BB}" type="slidenum">
              <a:rPr kumimoji="1" lang="ja-JP" altLang="en-US" smtClean="0"/>
              <a:t>‹#›</a:t>
            </a:fld>
            <a:endParaRPr kumimoji="1" lang="ja-JP" altLang="en-US"/>
          </a:p>
        </p:txBody>
      </p:sp>
    </p:spTree>
    <p:extLst>
      <p:ext uri="{BB962C8B-B14F-4D97-AF65-F5344CB8AC3E}">
        <p14:creationId xmlns:p14="http://schemas.microsoft.com/office/powerpoint/2010/main" val="394687383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E7CA639-E219-429A-C744-ED237330D576}"/>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B15FD197-0E7B-258A-266F-B13239BC2BA4}"/>
              </a:ext>
            </a:extLst>
          </p:cNvPr>
          <p:cNvSpPr>
            <a:spLocks noGrp="1"/>
          </p:cNvSpPr>
          <p:nvPr>
            <p:ph type="dt" sz="half" idx="10"/>
          </p:nvPr>
        </p:nvSpPr>
        <p:spPr/>
        <p:txBody>
          <a:bodyPr/>
          <a:lstStyle/>
          <a:p>
            <a:fld id="{1FA684D6-C116-4B88-A091-87E1D0234432}" type="datetimeFigureOut">
              <a:rPr kumimoji="1" lang="ja-JP" altLang="en-US" smtClean="0"/>
              <a:t>2026/6/17</a:t>
            </a:fld>
            <a:endParaRPr kumimoji="1" lang="ja-JP" altLang="en-US"/>
          </a:p>
        </p:txBody>
      </p:sp>
      <p:sp>
        <p:nvSpPr>
          <p:cNvPr id="4" name="フッター プレースホルダー 3">
            <a:extLst>
              <a:ext uri="{FF2B5EF4-FFF2-40B4-BE49-F238E27FC236}">
                <a16:creationId xmlns:a16="http://schemas.microsoft.com/office/drawing/2014/main" id="{CEB81E40-27FD-8E91-13C0-75B64189DC53}"/>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808FFEFF-496C-7DD8-D9BE-5B36FDF95BE1}"/>
              </a:ext>
            </a:extLst>
          </p:cNvPr>
          <p:cNvSpPr>
            <a:spLocks noGrp="1"/>
          </p:cNvSpPr>
          <p:nvPr>
            <p:ph type="sldNum" sz="quarter" idx="12"/>
          </p:nvPr>
        </p:nvSpPr>
        <p:spPr/>
        <p:txBody>
          <a:bodyPr/>
          <a:lstStyle/>
          <a:p>
            <a:fld id="{24666DD8-89E4-4801-A2BE-4405492756BB}" type="slidenum">
              <a:rPr kumimoji="1" lang="ja-JP" altLang="en-US" smtClean="0"/>
              <a:t>‹#›</a:t>
            </a:fld>
            <a:endParaRPr kumimoji="1" lang="ja-JP" altLang="en-US"/>
          </a:p>
        </p:txBody>
      </p:sp>
    </p:spTree>
    <p:extLst>
      <p:ext uri="{BB962C8B-B14F-4D97-AF65-F5344CB8AC3E}">
        <p14:creationId xmlns:p14="http://schemas.microsoft.com/office/powerpoint/2010/main" val="418978094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52D7BB6D-4467-A594-8D96-13BAB9448459}"/>
              </a:ext>
            </a:extLst>
          </p:cNvPr>
          <p:cNvSpPr>
            <a:spLocks noGrp="1"/>
          </p:cNvSpPr>
          <p:nvPr>
            <p:ph type="dt" sz="half" idx="10"/>
          </p:nvPr>
        </p:nvSpPr>
        <p:spPr/>
        <p:txBody>
          <a:bodyPr/>
          <a:lstStyle/>
          <a:p>
            <a:fld id="{1FA684D6-C116-4B88-A091-87E1D0234432}" type="datetimeFigureOut">
              <a:rPr kumimoji="1" lang="ja-JP" altLang="en-US" smtClean="0"/>
              <a:t>2026/6/17</a:t>
            </a:fld>
            <a:endParaRPr kumimoji="1" lang="ja-JP" altLang="en-US"/>
          </a:p>
        </p:txBody>
      </p:sp>
      <p:sp>
        <p:nvSpPr>
          <p:cNvPr id="3" name="フッター プレースホルダー 2">
            <a:extLst>
              <a:ext uri="{FF2B5EF4-FFF2-40B4-BE49-F238E27FC236}">
                <a16:creationId xmlns:a16="http://schemas.microsoft.com/office/drawing/2014/main" id="{46D6FFC5-E4CB-5143-C84D-873C4DEADB74}"/>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A2F851D3-1B3B-6FEA-F461-D5675F8B84F6}"/>
              </a:ext>
            </a:extLst>
          </p:cNvPr>
          <p:cNvSpPr>
            <a:spLocks noGrp="1"/>
          </p:cNvSpPr>
          <p:nvPr>
            <p:ph type="sldNum" sz="quarter" idx="12"/>
          </p:nvPr>
        </p:nvSpPr>
        <p:spPr/>
        <p:txBody>
          <a:bodyPr/>
          <a:lstStyle/>
          <a:p>
            <a:fld id="{24666DD8-89E4-4801-A2BE-4405492756BB}" type="slidenum">
              <a:rPr kumimoji="1" lang="ja-JP" altLang="en-US" smtClean="0"/>
              <a:t>‹#›</a:t>
            </a:fld>
            <a:endParaRPr kumimoji="1" lang="ja-JP" altLang="en-US"/>
          </a:p>
        </p:txBody>
      </p:sp>
    </p:spTree>
    <p:extLst>
      <p:ext uri="{BB962C8B-B14F-4D97-AF65-F5344CB8AC3E}">
        <p14:creationId xmlns:p14="http://schemas.microsoft.com/office/powerpoint/2010/main" val="223384696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B6D44C6-47B3-4CB5-F92D-B2363548A8ED}"/>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D5FEBE3D-7017-130D-3CEF-EFECDC9A692F}"/>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FC269173-EAD5-93E6-C11F-236B09FA10C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E2F7555E-933F-A834-7A81-A16C803C1E17}"/>
              </a:ext>
            </a:extLst>
          </p:cNvPr>
          <p:cNvSpPr>
            <a:spLocks noGrp="1"/>
          </p:cNvSpPr>
          <p:nvPr>
            <p:ph type="dt" sz="half" idx="10"/>
          </p:nvPr>
        </p:nvSpPr>
        <p:spPr/>
        <p:txBody>
          <a:bodyPr/>
          <a:lstStyle/>
          <a:p>
            <a:fld id="{1FA684D6-C116-4B88-A091-87E1D0234432}" type="datetimeFigureOut">
              <a:rPr kumimoji="1" lang="ja-JP" altLang="en-US" smtClean="0"/>
              <a:t>2026/6/17</a:t>
            </a:fld>
            <a:endParaRPr kumimoji="1" lang="ja-JP" altLang="en-US"/>
          </a:p>
        </p:txBody>
      </p:sp>
      <p:sp>
        <p:nvSpPr>
          <p:cNvPr id="6" name="フッター プレースホルダー 5">
            <a:extLst>
              <a:ext uri="{FF2B5EF4-FFF2-40B4-BE49-F238E27FC236}">
                <a16:creationId xmlns:a16="http://schemas.microsoft.com/office/drawing/2014/main" id="{E8D7472E-FA6A-7189-E68A-16829F6FF776}"/>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3586F830-7D49-8318-9E1B-E3A23E09C678}"/>
              </a:ext>
            </a:extLst>
          </p:cNvPr>
          <p:cNvSpPr>
            <a:spLocks noGrp="1"/>
          </p:cNvSpPr>
          <p:nvPr>
            <p:ph type="sldNum" sz="quarter" idx="12"/>
          </p:nvPr>
        </p:nvSpPr>
        <p:spPr/>
        <p:txBody>
          <a:bodyPr/>
          <a:lstStyle/>
          <a:p>
            <a:fld id="{24666DD8-89E4-4801-A2BE-4405492756BB}" type="slidenum">
              <a:rPr kumimoji="1" lang="ja-JP" altLang="en-US" smtClean="0"/>
              <a:t>‹#›</a:t>
            </a:fld>
            <a:endParaRPr kumimoji="1" lang="ja-JP" altLang="en-US"/>
          </a:p>
        </p:txBody>
      </p:sp>
    </p:spTree>
    <p:extLst>
      <p:ext uri="{BB962C8B-B14F-4D97-AF65-F5344CB8AC3E}">
        <p14:creationId xmlns:p14="http://schemas.microsoft.com/office/powerpoint/2010/main" val="287545590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4C18E92-E647-FBD7-245B-7B27000B819A}"/>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2581A1B5-D689-1297-BB42-80F6137E7A96}"/>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95164752-3104-1E35-4114-B8F8F5B2BAC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8F06FE7D-A801-55C4-3239-DF0F10696FA5}"/>
              </a:ext>
            </a:extLst>
          </p:cNvPr>
          <p:cNvSpPr>
            <a:spLocks noGrp="1"/>
          </p:cNvSpPr>
          <p:nvPr>
            <p:ph type="dt" sz="half" idx="10"/>
          </p:nvPr>
        </p:nvSpPr>
        <p:spPr/>
        <p:txBody>
          <a:bodyPr/>
          <a:lstStyle/>
          <a:p>
            <a:fld id="{1FA684D6-C116-4B88-A091-87E1D0234432}" type="datetimeFigureOut">
              <a:rPr kumimoji="1" lang="ja-JP" altLang="en-US" smtClean="0"/>
              <a:t>2026/6/17</a:t>
            </a:fld>
            <a:endParaRPr kumimoji="1" lang="ja-JP" altLang="en-US"/>
          </a:p>
        </p:txBody>
      </p:sp>
      <p:sp>
        <p:nvSpPr>
          <p:cNvPr id="6" name="フッター プレースホルダー 5">
            <a:extLst>
              <a:ext uri="{FF2B5EF4-FFF2-40B4-BE49-F238E27FC236}">
                <a16:creationId xmlns:a16="http://schemas.microsoft.com/office/drawing/2014/main" id="{F14C398E-DEC0-45B8-28BB-117F9C31AB21}"/>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8848464F-B6CB-29F8-2022-2213B4A671B3}"/>
              </a:ext>
            </a:extLst>
          </p:cNvPr>
          <p:cNvSpPr>
            <a:spLocks noGrp="1"/>
          </p:cNvSpPr>
          <p:nvPr>
            <p:ph type="sldNum" sz="quarter" idx="12"/>
          </p:nvPr>
        </p:nvSpPr>
        <p:spPr/>
        <p:txBody>
          <a:bodyPr/>
          <a:lstStyle/>
          <a:p>
            <a:fld id="{24666DD8-89E4-4801-A2BE-4405492756BB}" type="slidenum">
              <a:rPr kumimoji="1" lang="ja-JP" altLang="en-US" smtClean="0"/>
              <a:t>‹#›</a:t>
            </a:fld>
            <a:endParaRPr kumimoji="1" lang="ja-JP" altLang="en-US"/>
          </a:p>
        </p:txBody>
      </p:sp>
    </p:spTree>
    <p:extLst>
      <p:ext uri="{BB962C8B-B14F-4D97-AF65-F5344CB8AC3E}">
        <p14:creationId xmlns:p14="http://schemas.microsoft.com/office/powerpoint/2010/main" val="32688825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B357030-2DA8-72BA-DDF7-ED9CB19BBA50}"/>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8AE5CF57-B8B1-BA95-BB21-3E2D9B26D8C3}"/>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7BD992E4-581E-8B36-9FEB-CE8B60D7555D}"/>
              </a:ext>
            </a:extLst>
          </p:cNvPr>
          <p:cNvSpPr>
            <a:spLocks noGrp="1"/>
          </p:cNvSpPr>
          <p:nvPr>
            <p:ph type="dt" sz="half" idx="10"/>
          </p:nvPr>
        </p:nvSpPr>
        <p:spPr/>
        <p:txBody>
          <a:bodyPr/>
          <a:lstStyle/>
          <a:p>
            <a:fld id="{1FA684D6-C116-4B88-A091-87E1D0234432}" type="datetimeFigureOut">
              <a:rPr kumimoji="1" lang="ja-JP" altLang="en-US" smtClean="0"/>
              <a:t>2026/6/17</a:t>
            </a:fld>
            <a:endParaRPr kumimoji="1" lang="ja-JP" altLang="en-US"/>
          </a:p>
        </p:txBody>
      </p:sp>
      <p:sp>
        <p:nvSpPr>
          <p:cNvPr id="5" name="フッター プレースホルダー 4">
            <a:extLst>
              <a:ext uri="{FF2B5EF4-FFF2-40B4-BE49-F238E27FC236}">
                <a16:creationId xmlns:a16="http://schemas.microsoft.com/office/drawing/2014/main" id="{1F65960C-F9DB-1E4D-923A-E41C9AA178B2}"/>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7AE95471-1733-B091-AF72-8955625442A5}"/>
              </a:ext>
            </a:extLst>
          </p:cNvPr>
          <p:cNvSpPr>
            <a:spLocks noGrp="1"/>
          </p:cNvSpPr>
          <p:nvPr>
            <p:ph type="sldNum" sz="quarter" idx="12"/>
          </p:nvPr>
        </p:nvSpPr>
        <p:spPr/>
        <p:txBody>
          <a:bodyPr/>
          <a:lstStyle/>
          <a:p>
            <a:fld id="{24666DD8-89E4-4801-A2BE-4405492756BB}" type="slidenum">
              <a:rPr kumimoji="1" lang="ja-JP" altLang="en-US" smtClean="0"/>
              <a:t>‹#›</a:t>
            </a:fld>
            <a:endParaRPr kumimoji="1" lang="ja-JP" altLang="en-US"/>
          </a:p>
        </p:txBody>
      </p:sp>
    </p:spTree>
    <p:extLst>
      <p:ext uri="{BB962C8B-B14F-4D97-AF65-F5344CB8AC3E}">
        <p14:creationId xmlns:p14="http://schemas.microsoft.com/office/powerpoint/2010/main" val="79529340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689C2E71-5737-416B-DB6A-790EF3F5C846}"/>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D3D32D7B-6089-490B-3E75-CA39311A8B0A}"/>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F0A7AD4F-9096-79C0-22D3-44919E3DC121}"/>
              </a:ext>
            </a:extLst>
          </p:cNvPr>
          <p:cNvSpPr>
            <a:spLocks noGrp="1"/>
          </p:cNvSpPr>
          <p:nvPr>
            <p:ph type="dt" sz="half" idx="10"/>
          </p:nvPr>
        </p:nvSpPr>
        <p:spPr/>
        <p:txBody>
          <a:bodyPr/>
          <a:lstStyle/>
          <a:p>
            <a:fld id="{1FA684D6-C116-4B88-A091-87E1D0234432}" type="datetimeFigureOut">
              <a:rPr kumimoji="1" lang="ja-JP" altLang="en-US" smtClean="0"/>
              <a:t>2026/6/17</a:t>
            </a:fld>
            <a:endParaRPr kumimoji="1" lang="ja-JP" altLang="en-US"/>
          </a:p>
        </p:txBody>
      </p:sp>
      <p:sp>
        <p:nvSpPr>
          <p:cNvPr id="5" name="フッター プレースホルダー 4">
            <a:extLst>
              <a:ext uri="{FF2B5EF4-FFF2-40B4-BE49-F238E27FC236}">
                <a16:creationId xmlns:a16="http://schemas.microsoft.com/office/drawing/2014/main" id="{B94754DC-C87C-6C73-F50C-287C4B4470D4}"/>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5503EB05-A02A-DD61-5251-D97A2B687A8B}"/>
              </a:ext>
            </a:extLst>
          </p:cNvPr>
          <p:cNvSpPr>
            <a:spLocks noGrp="1"/>
          </p:cNvSpPr>
          <p:nvPr>
            <p:ph type="sldNum" sz="quarter" idx="12"/>
          </p:nvPr>
        </p:nvSpPr>
        <p:spPr/>
        <p:txBody>
          <a:bodyPr/>
          <a:lstStyle/>
          <a:p>
            <a:fld id="{24666DD8-89E4-4801-A2BE-4405492756BB}" type="slidenum">
              <a:rPr kumimoji="1" lang="ja-JP" altLang="en-US" smtClean="0"/>
              <a:t>‹#›</a:t>
            </a:fld>
            <a:endParaRPr kumimoji="1" lang="ja-JP" altLang="en-US"/>
          </a:p>
        </p:txBody>
      </p:sp>
    </p:spTree>
    <p:extLst>
      <p:ext uri="{BB962C8B-B14F-4D97-AF65-F5344CB8AC3E}">
        <p14:creationId xmlns:p14="http://schemas.microsoft.com/office/powerpoint/2010/main" val="365078083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CD497F3F-F2B1-1BD0-C4B7-92E66376725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016DF5F5-BB77-4125-D033-BACD4B8CDDD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650703F8-C287-6DA2-ABF9-D436C4EDAD4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FA684D6-C116-4B88-A091-87E1D0234432}" type="datetimeFigureOut">
              <a:rPr kumimoji="1" lang="ja-JP" altLang="en-US" smtClean="0"/>
              <a:t>2026/6/17</a:t>
            </a:fld>
            <a:endParaRPr kumimoji="1" lang="ja-JP" altLang="en-US"/>
          </a:p>
        </p:txBody>
      </p:sp>
      <p:sp>
        <p:nvSpPr>
          <p:cNvPr id="5" name="フッター プレースホルダー 4">
            <a:extLst>
              <a:ext uri="{FF2B5EF4-FFF2-40B4-BE49-F238E27FC236}">
                <a16:creationId xmlns:a16="http://schemas.microsoft.com/office/drawing/2014/main" id="{3C827BE6-F2D0-D707-8C93-67DE990E275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127200B7-B408-32FE-D33E-CC504D7EFC3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4666DD8-89E4-4801-A2BE-4405492756BB}" type="slidenum">
              <a:rPr kumimoji="1" lang="ja-JP" altLang="en-US" smtClean="0"/>
              <a:t>‹#›</a:t>
            </a:fld>
            <a:endParaRPr kumimoji="1" lang="ja-JP" altLang="en-US"/>
          </a:p>
        </p:txBody>
      </p:sp>
    </p:spTree>
    <p:extLst>
      <p:ext uri="{BB962C8B-B14F-4D97-AF65-F5344CB8AC3E}">
        <p14:creationId xmlns:p14="http://schemas.microsoft.com/office/powerpoint/2010/main" val="312146868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D54CFD8-1383-F74C-4A8C-6E3ABB2EF5B1}"/>
              </a:ext>
            </a:extLst>
          </p:cNvPr>
          <p:cNvSpPr>
            <a:spLocks noGrp="1"/>
          </p:cNvSpPr>
          <p:nvPr>
            <p:ph type="ctrTitle"/>
          </p:nvPr>
        </p:nvSpPr>
        <p:spPr/>
        <p:txBody>
          <a:bodyPr/>
          <a:lstStyle/>
          <a:p>
            <a:r>
              <a:rPr kumimoji="1" lang="en-US" altLang="ja-JP" dirty="0"/>
              <a:t>Mobile</a:t>
            </a:r>
            <a:r>
              <a:rPr kumimoji="1" lang="ja-JP" altLang="en-US" dirty="0"/>
              <a:t>アプリ仕様書</a:t>
            </a:r>
          </a:p>
        </p:txBody>
      </p:sp>
      <p:sp>
        <p:nvSpPr>
          <p:cNvPr id="3" name="字幕 2">
            <a:extLst>
              <a:ext uri="{FF2B5EF4-FFF2-40B4-BE49-F238E27FC236}">
                <a16:creationId xmlns:a16="http://schemas.microsoft.com/office/drawing/2014/main" id="{2EC64D3B-2971-0512-B014-903F5E9BC14A}"/>
              </a:ext>
            </a:extLst>
          </p:cNvPr>
          <p:cNvSpPr>
            <a:spLocks noGrp="1"/>
          </p:cNvSpPr>
          <p:nvPr>
            <p:ph type="subTitle" idx="1"/>
          </p:nvPr>
        </p:nvSpPr>
        <p:spPr/>
        <p:txBody>
          <a:bodyPr/>
          <a:lstStyle/>
          <a:p>
            <a:r>
              <a:rPr kumimoji="1" lang="ja-JP" altLang="en-US" dirty="0"/>
              <a:t>小林健人</a:t>
            </a:r>
          </a:p>
        </p:txBody>
      </p:sp>
    </p:spTree>
    <p:extLst>
      <p:ext uri="{BB962C8B-B14F-4D97-AF65-F5344CB8AC3E}">
        <p14:creationId xmlns:p14="http://schemas.microsoft.com/office/powerpoint/2010/main" val="128437438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テキスト ボックス 2">
            <a:extLst>
              <a:ext uri="{FF2B5EF4-FFF2-40B4-BE49-F238E27FC236}">
                <a16:creationId xmlns:a16="http://schemas.microsoft.com/office/drawing/2014/main" id="{C4D2AD20-0DC4-B5FB-F2EC-095879C78044}"/>
              </a:ext>
            </a:extLst>
          </p:cNvPr>
          <p:cNvSpPr txBox="1"/>
          <p:nvPr/>
        </p:nvSpPr>
        <p:spPr>
          <a:xfrm>
            <a:off x="788670" y="839462"/>
            <a:ext cx="7011162" cy="523220"/>
          </a:xfrm>
          <a:prstGeom prst="rect">
            <a:avLst/>
          </a:prstGeom>
          <a:noFill/>
        </p:spPr>
        <p:txBody>
          <a:bodyPr wrap="square">
            <a:spAutoFit/>
          </a:bodyPr>
          <a:lstStyle/>
          <a:p>
            <a:r>
              <a:rPr lang="ja-JP" altLang="en-US" sz="2800" b="1" dirty="0"/>
              <a:t>■バイト収入・シフト自動計算アプリ</a:t>
            </a:r>
          </a:p>
        </p:txBody>
      </p:sp>
      <p:sp>
        <p:nvSpPr>
          <p:cNvPr id="5" name="テキスト ボックス 4">
            <a:extLst>
              <a:ext uri="{FF2B5EF4-FFF2-40B4-BE49-F238E27FC236}">
                <a16:creationId xmlns:a16="http://schemas.microsoft.com/office/drawing/2014/main" id="{4F6257B5-E43F-5FEA-80FD-7F3D7EEAAE5B}"/>
              </a:ext>
            </a:extLst>
          </p:cNvPr>
          <p:cNvSpPr txBox="1"/>
          <p:nvPr/>
        </p:nvSpPr>
        <p:spPr>
          <a:xfrm>
            <a:off x="980694" y="2537456"/>
            <a:ext cx="8291322" cy="830997"/>
          </a:xfrm>
          <a:prstGeom prst="rect">
            <a:avLst/>
          </a:prstGeom>
          <a:noFill/>
        </p:spPr>
        <p:txBody>
          <a:bodyPr wrap="square">
            <a:spAutoFit/>
          </a:bodyPr>
          <a:lstStyle/>
          <a:p>
            <a:r>
              <a:rPr lang="ja-JP" altLang="en-US" sz="2400" dirty="0"/>
              <a:t>〇アルバイト従業員がシフト・勤務時間・収入を手軽に</a:t>
            </a:r>
            <a:endParaRPr lang="en-US" altLang="ja-JP" sz="2400" dirty="0"/>
          </a:p>
          <a:p>
            <a:r>
              <a:rPr lang="ja-JP" altLang="en-US" sz="2400" dirty="0"/>
              <a:t>　管理できるアプリ/サイトを提供する</a:t>
            </a:r>
          </a:p>
        </p:txBody>
      </p:sp>
      <p:sp>
        <p:nvSpPr>
          <p:cNvPr id="7" name="テキスト ボックス 6">
            <a:extLst>
              <a:ext uri="{FF2B5EF4-FFF2-40B4-BE49-F238E27FC236}">
                <a16:creationId xmlns:a16="http://schemas.microsoft.com/office/drawing/2014/main" id="{191C6C63-A50F-367D-F2F5-D8C261532377}"/>
              </a:ext>
            </a:extLst>
          </p:cNvPr>
          <p:cNvSpPr txBox="1"/>
          <p:nvPr/>
        </p:nvSpPr>
        <p:spPr>
          <a:xfrm>
            <a:off x="1247013" y="1959469"/>
            <a:ext cx="6094476" cy="523220"/>
          </a:xfrm>
          <a:prstGeom prst="rect">
            <a:avLst/>
          </a:prstGeom>
          <a:noFill/>
        </p:spPr>
        <p:txBody>
          <a:bodyPr wrap="square">
            <a:spAutoFit/>
          </a:bodyPr>
          <a:lstStyle/>
          <a:p>
            <a:r>
              <a:rPr lang="ja-JP" altLang="en-US" sz="2800" b="1" dirty="0"/>
              <a:t>目的</a:t>
            </a:r>
          </a:p>
        </p:txBody>
      </p:sp>
      <p:sp>
        <p:nvSpPr>
          <p:cNvPr id="9" name="テキスト ボックス 8">
            <a:extLst>
              <a:ext uri="{FF2B5EF4-FFF2-40B4-BE49-F238E27FC236}">
                <a16:creationId xmlns:a16="http://schemas.microsoft.com/office/drawing/2014/main" id="{EA4AFE93-D479-11D2-AECA-48EFF4D9D26E}"/>
              </a:ext>
            </a:extLst>
          </p:cNvPr>
          <p:cNvSpPr txBox="1"/>
          <p:nvPr/>
        </p:nvSpPr>
        <p:spPr>
          <a:xfrm>
            <a:off x="980694" y="4351203"/>
            <a:ext cx="6094476" cy="1569660"/>
          </a:xfrm>
          <a:prstGeom prst="rect">
            <a:avLst/>
          </a:prstGeom>
          <a:noFill/>
        </p:spPr>
        <p:txBody>
          <a:bodyPr wrap="square">
            <a:spAutoFit/>
          </a:bodyPr>
          <a:lstStyle/>
          <a:p>
            <a:r>
              <a:rPr lang="ja-JP" altLang="en-US" sz="2400" dirty="0"/>
              <a:t>〇バイトしている人</a:t>
            </a:r>
          </a:p>
          <a:p>
            <a:r>
              <a:rPr lang="ja-JP" altLang="en-US" sz="2400" dirty="0"/>
              <a:t>　・高校生～30代前半</a:t>
            </a:r>
          </a:p>
          <a:p>
            <a:r>
              <a:rPr lang="ja-JP" altLang="en-US" sz="2400" dirty="0"/>
              <a:t>〇バイト掛け持ちしている人</a:t>
            </a:r>
            <a:endParaRPr lang="en-US" altLang="ja-JP" sz="2400" dirty="0"/>
          </a:p>
          <a:p>
            <a:r>
              <a:rPr lang="ja-JP" altLang="en-US" sz="2400" dirty="0"/>
              <a:t>〇シフト管理がめんどくさい人</a:t>
            </a:r>
          </a:p>
        </p:txBody>
      </p:sp>
      <p:sp>
        <p:nvSpPr>
          <p:cNvPr id="11" name="テキスト ボックス 10">
            <a:extLst>
              <a:ext uri="{FF2B5EF4-FFF2-40B4-BE49-F238E27FC236}">
                <a16:creationId xmlns:a16="http://schemas.microsoft.com/office/drawing/2014/main" id="{490970E8-F00A-902B-D626-8D668A85A5C6}"/>
              </a:ext>
            </a:extLst>
          </p:cNvPr>
          <p:cNvSpPr txBox="1"/>
          <p:nvPr/>
        </p:nvSpPr>
        <p:spPr>
          <a:xfrm>
            <a:off x="1173861" y="3827983"/>
            <a:ext cx="6094476" cy="523220"/>
          </a:xfrm>
          <a:prstGeom prst="rect">
            <a:avLst/>
          </a:prstGeom>
          <a:noFill/>
        </p:spPr>
        <p:txBody>
          <a:bodyPr wrap="square">
            <a:spAutoFit/>
          </a:bodyPr>
          <a:lstStyle/>
          <a:p>
            <a:r>
              <a:rPr lang="ja-JP" altLang="en-US" sz="2800" b="1" dirty="0"/>
              <a:t>ターゲット</a:t>
            </a:r>
          </a:p>
        </p:txBody>
      </p:sp>
    </p:spTree>
    <p:extLst>
      <p:ext uri="{BB962C8B-B14F-4D97-AF65-F5344CB8AC3E}">
        <p14:creationId xmlns:p14="http://schemas.microsoft.com/office/powerpoint/2010/main" val="376382011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C64B28-9C70-1E7F-26B8-26DE75B389D6}"/>
            </a:ext>
          </a:extLst>
        </p:cNvPr>
        <p:cNvGrpSpPr/>
        <p:nvPr/>
      </p:nvGrpSpPr>
      <p:grpSpPr>
        <a:xfrm>
          <a:off x="0" y="0"/>
          <a:ext cx="0" cy="0"/>
          <a:chOff x="0" y="0"/>
          <a:chExt cx="0" cy="0"/>
        </a:xfrm>
      </p:grpSpPr>
      <p:sp>
        <p:nvSpPr>
          <p:cNvPr id="3" name="テキスト ボックス 2">
            <a:extLst>
              <a:ext uri="{FF2B5EF4-FFF2-40B4-BE49-F238E27FC236}">
                <a16:creationId xmlns:a16="http://schemas.microsoft.com/office/drawing/2014/main" id="{A653507D-8F57-CC91-F258-6B477093877B}"/>
              </a:ext>
            </a:extLst>
          </p:cNvPr>
          <p:cNvSpPr txBox="1"/>
          <p:nvPr/>
        </p:nvSpPr>
        <p:spPr>
          <a:xfrm>
            <a:off x="1364742" y="1663744"/>
            <a:ext cx="8382762" cy="3785652"/>
          </a:xfrm>
          <a:prstGeom prst="rect">
            <a:avLst/>
          </a:prstGeom>
          <a:noFill/>
        </p:spPr>
        <p:txBody>
          <a:bodyPr wrap="square">
            <a:spAutoFit/>
          </a:bodyPr>
          <a:lstStyle/>
          <a:p>
            <a:r>
              <a:rPr lang="ja-JP" altLang="en-US" sz="2400" dirty="0"/>
              <a:t>〇シフト入力</a:t>
            </a:r>
            <a:endParaRPr lang="en-US" altLang="ja-JP" sz="2400" dirty="0"/>
          </a:p>
          <a:p>
            <a:r>
              <a:rPr lang="en-US" altLang="ja-JP" sz="2400" dirty="0"/>
              <a:t>※</a:t>
            </a:r>
            <a:r>
              <a:rPr lang="ja-JP" altLang="en-US" sz="2400" dirty="0"/>
              <a:t>できれば画像送ると自動入力</a:t>
            </a:r>
          </a:p>
          <a:p>
            <a:r>
              <a:rPr lang="ja-JP" altLang="en-US" sz="2400" dirty="0"/>
              <a:t>〇時給などの条件入力</a:t>
            </a:r>
          </a:p>
          <a:p>
            <a:r>
              <a:rPr lang="ja-JP" altLang="en-US" sz="2400" dirty="0"/>
              <a:t>〇実績入力</a:t>
            </a:r>
          </a:p>
          <a:p>
            <a:r>
              <a:rPr lang="ja-JP" altLang="en-US" sz="2400" dirty="0"/>
              <a:t>・働いた時間、遅刻・残業時間を入力/修正</a:t>
            </a:r>
          </a:p>
          <a:p>
            <a:r>
              <a:rPr lang="ja-JP" altLang="en-US" sz="2400" dirty="0"/>
              <a:t>〇合計金額の計算</a:t>
            </a:r>
          </a:p>
          <a:p>
            <a:r>
              <a:rPr lang="ja-JP" altLang="en-US" sz="2400" dirty="0"/>
              <a:t>〇月ごとの収支履歴</a:t>
            </a:r>
          </a:p>
          <a:p>
            <a:r>
              <a:rPr lang="ja-JP" altLang="en-US" sz="2400" dirty="0"/>
              <a:t>・過去の月ごとの給与実績を一覧で確認</a:t>
            </a:r>
          </a:p>
          <a:p>
            <a:r>
              <a:rPr lang="ja-JP" altLang="en-US" sz="2400" dirty="0"/>
              <a:t>〇複数バイト管理</a:t>
            </a:r>
            <a:endParaRPr lang="en-US" altLang="ja-JP" sz="2400" dirty="0"/>
          </a:p>
          <a:p>
            <a:r>
              <a:rPr lang="ja-JP" altLang="en-US" sz="2400" dirty="0"/>
              <a:t>〇有給時間計算</a:t>
            </a:r>
            <a:endParaRPr lang="en-US" altLang="ja-JP" sz="2400" dirty="0"/>
          </a:p>
        </p:txBody>
      </p:sp>
      <p:sp>
        <p:nvSpPr>
          <p:cNvPr id="5" name="テキスト ボックス 4">
            <a:extLst>
              <a:ext uri="{FF2B5EF4-FFF2-40B4-BE49-F238E27FC236}">
                <a16:creationId xmlns:a16="http://schemas.microsoft.com/office/drawing/2014/main" id="{64532EE4-8C37-5AC3-D728-F5CB9D7C2678}"/>
              </a:ext>
            </a:extLst>
          </p:cNvPr>
          <p:cNvSpPr txBox="1"/>
          <p:nvPr/>
        </p:nvSpPr>
        <p:spPr>
          <a:xfrm>
            <a:off x="1035558" y="771656"/>
            <a:ext cx="6094476" cy="523220"/>
          </a:xfrm>
          <a:prstGeom prst="rect">
            <a:avLst/>
          </a:prstGeom>
          <a:noFill/>
        </p:spPr>
        <p:txBody>
          <a:bodyPr wrap="square">
            <a:spAutoFit/>
          </a:bodyPr>
          <a:lstStyle/>
          <a:p>
            <a:r>
              <a:rPr lang="ja-JP" altLang="en-US" sz="2800" b="1" dirty="0"/>
              <a:t>■機能</a:t>
            </a:r>
          </a:p>
        </p:txBody>
      </p:sp>
    </p:spTree>
    <p:extLst>
      <p:ext uri="{BB962C8B-B14F-4D97-AF65-F5344CB8AC3E}">
        <p14:creationId xmlns:p14="http://schemas.microsoft.com/office/powerpoint/2010/main" val="93397677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C3B03A-9E86-D06D-DF99-CD48B1E2D0D1}"/>
            </a:ext>
          </a:extLst>
        </p:cNvPr>
        <p:cNvGrpSpPr/>
        <p:nvPr/>
      </p:nvGrpSpPr>
      <p:grpSpPr>
        <a:xfrm>
          <a:off x="0" y="0"/>
          <a:ext cx="0" cy="0"/>
          <a:chOff x="0" y="0"/>
          <a:chExt cx="0" cy="0"/>
        </a:xfrm>
      </p:grpSpPr>
      <p:sp>
        <p:nvSpPr>
          <p:cNvPr id="3" name="テキスト ボックス 2">
            <a:extLst>
              <a:ext uri="{FF2B5EF4-FFF2-40B4-BE49-F238E27FC236}">
                <a16:creationId xmlns:a16="http://schemas.microsoft.com/office/drawing/2014/main" id="{F3E7368E-AE1C-F017-6E4C-1C52D1465D2B}"/>
              </a:ext>
            </a:extLst>
          </p:cNvPr>
          <p:cNvSpPr txBox="1"/>
          <p:nvPr/>
        </p:nvSpPr>
        <p:spPr>
          <a:xfrm>
            <a:off x="1282446" y="1817638"/>
            <a:ext cx="8730234" cy="3785652"/>
          </a:xfrm>
          <a:prstGeom prst="rect">
            <a:avLst/>
          </a:prstGeom>
          <a:noFill/>
        </p:spPr>
        <p:txBody>
          <a:bodyPr wrap="square">
            <a:spAutoFit/>
          </a:bodyPr>
          <a:lstStyle/>
          <a:p>
            <a:r>
              <a:rPr lang="ja-JP" altLang="en-US" sz="2400" dirty="0"/>
              <a:t>〇登録方法</a:t>
            </a:r>
          </a:p>
          <a:p>
            <a:r>
              <a:rPr lang="ja-JP" altLang="en-US" sz="2400" dirty="0"/>
              <a:t>メールアドレス・パスワード</a:t>
            </a:r>
            <a:endParaRPr lang="en-US" altLang="ja-JP" sz="2400" dirty="0"/>
          </a:p>
          <a:p>
            <a:endParaRPr lang="ja-JP" altLang="en-US" sz="2400" dirty="0"/>
          </a:p>
          <a:p>
            <a:r>
              <a:rPr lang="ja-JP" altLang="en-US" sz="2400" dirty="0"/>
              <a:t>〇必須情報</a:t>
            </a:r>
          </a:p>
          <a:p>
            <a:r>
              <a:rPr lang="ja-JP" altLang="en-US" sz="2400" dirty="0"/>
              <a:t>ニックネーム(任意)、メールアドレス、パスワード</a:t>
            </a:r>
            <a:endParaRPr lang="en-US" altLang="ja-JP" sz="2400" dirty="0"/>
          </a:p>
          <a:p>
            <a:endParaRPr lang="ja-JP" altLang="en-US" sz="2400" dirty="0"/>
          </a:p>
          <a:p>
            <a:r>
              <a:rPr lang="ja-JP" altLang="en-US" sz="2400" dirty="0"/>
              <a:t>〇認証</a:t>
            </a:r>
          </a:p>
          <a:p>
            <a:r>
              <a:rPr lang="ja-JP" altLang="en-US" sz="2400" dirty="0"/>
              <a:t>登録時、メールアドレスの有効性を確認(確認メール送信)を</a:t>
            </a:r>
            <a:endParaRPr lang="en-US" altLang="ja-JP" sz="2400" dirty="0"/>
          </a:p>
          <a:p>
            <a:r>
              <a:rPr lang="ja-JP" altLang="en-US" sz="2400" dirty="0"/>
              <a:t>実施する</a:t>
            </a:r>
            <a:endParaRPr lang="en-US" altLang="ja-JP" sz="2400" dirty="0"/>
          </a:p>
          <a:p>
            <a:r>
              <a:rPr lang="en-US" altLang="ja-JP" sz="2400" dirty="0"/>
              <a:t>※</a:t>
            </a:r>
            <a:r>
              <a:rPr lang="ja-JP" altLang="en-US" sz="2400" dirty="0"/>
              <a:t>できれば</a:t>
            </a:r>
          </a:p>
        </p:txBody>
      </p:sp>
      <p:sp>
        <p:nvSpPr>
          <p:cNvPr id="5" name="テキスト ボックス 4">
            <a:extLst>
              <a:ext uri="{FF2B5EF4-FFF2-40B4-BE49-F238E27FC236}">
                <a16:creationId xmlns:a16="http://schemas.microsoft.com/office/drawing/2014/main" id="{A49417C1-A45C-ACE8-15AC-96476598EB6A}"/>
              </a:ext>
            </a:extLst>
          </p:cNvPr>
          <p:cNvSpPr txBox="1"/>
          <p:nvPr/>
        </p:nvSpPr>
        <p:spPr>
          <a:xfrm>
            <a:off x="898398" y="830318"/>
            <a:ext cx="6094476" cy="523220"/>
          </a:xfrm>
          <a:prstGeom prst="rect">
            <a:avLst/>
          </a:prstGeom>
          <a:noFill/>
        </p:spPr>
        <p:txBody>
          <a:bodyPr wrap="square">
            <a:spAutoFit/>
          </a:bodyPr>
          <a:lstStyle/>
          <a:p>
            <a:r>
              <a:rPr lang="ja-JP" altLang="en-US" sz="2800" b="1" dirty="0"/>
              <a:t>■ユーザー登録・ログイン機能</a:t>
            </a:r>
          </a:p>
        </p:txBody>
      </p:sp>
    </p:spTree>
    <p:extLst>
      <p:ext uri="{BB962C8B-B14F-4D97-AF65-F5344CB8AC3E}">
        <p14:creationId xmlns:p14="http://schemas.microsoft.com/office/powerpoint/2010/main" val="383015096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909D32-348F-CC3A-93AF-5AC5EAE9CA6F}"/>
            </a:ext>
          </a:extLst>
        </p:cNvPr>
        <p:cNvGrpSpPr/>
        <p:nvPr/>
      </p:nvGrpSpPr>
      <p:grpSpPr>
        <a:xfrm>
          <a:off x="0" y="0"/>
          <a:ext cx="0" cy="0"/>
          <a:chOff x="0" y="0"/>
          <a:chExt cx="0" cy="0"/>
        </a:xfrm>
      </p:grpSpPr>
      <p:sp>
        <p:nvSpPr>
          <p:cNvPr id="3" name="テキスト ボックス 2">
            <a:extLst>
              <a:ext uri="{FF2B5EF4-FFF2-40B4-BE49-F238E27FC236}">
                <a16:creationId xmlns:a16="http://schemas.microsoft.com/office/drawing/2014/main" id="{3BA04F59-79D0-9BE4-ABC3-AD8CBCC616AE}"/>
              </a:ext>
            </a:extLst>
          </p:cNvPr>
          <p:cNvSpPr txBox="1"/>
          <p:nvPr/>
        </p:nvSpPr>
        <p:spPr>
          <a:xfrm>
            <a:off x="711327" y="1287053"/>
            <a:ext cx="10769346" cy="5262979"/>
          </a:xfrm>
          <a:prstGeom prst="rect">
            <a:avLst/>
          </a:prstGeom>
          <a:noFill/>
        </p:spPr>
        <p:txBody>
          <a:bodyPr wrap="square">
            <a:spAutoFit/>
          </a:bodyPr>
          <a:lstStyle/>
          <a:p>
            <a:r>
              <a:rPr lang="ja-JP" altLang="en-US" sz="2400" dirty="0"/>
              <a:t>〇アルバイト先名</a:t>
            </a:r>
          </a:p>
          <a:p>
            <a:r>
              <a:rPr lang="ja-JP" altLang="en-US" sz="2400" dirty="0"/>
              <a:t>・任意の名称　※ユーザーが識別するため</a:t>
            </a:r>
            <a:endParaRPr lang="en-US" altLang="ja-JP" sz="2400" dirty="0"/>
          </a:p>
          <a:p>
            <a:endParaRPr lang="ja-JP" altLang="en-US" sz="2400" dirty="0"/>
          </a:p>
          <a:p>
            <a:r>
              <a:rPr lang="ja-JP" altLang="en-US" sz="2400" dirty="0"/>
              <a:t>〇基本時給</a:t>
            </a:r>
          </a:p>
          <a:p>
            <a:r>
              <a:rPr lang="ja-JP" altLang="en-US" sz="2400" dirty="0"/>
              <a:t>・￥　※基本となる時間給</a:t>
            </a:r>
            <a:endParaRPr lang="en-US" altLang="ja-JP" sz="2400" dirty="0"/>
          </a:p>
          <a:p>
            <a:endParaRPr lang="ja-JP" altLang="en-US" sz="2400" dirty="0"/>
          </a:p>
          <a:p>
            <a:r>
              <a:rPr lang="ja-JP" altLang="en-US" sz="2400" dirty="0"/>
              <a:t>〇交通費</a:t>
            </a:r>
          </a:p>
          <a:p>
            <a:r>
              <a:rPr lang="ja-JP" altLang="en-US" sz="2400" dirty="0"/>
              <a:t>・￥　※日額または月額での設定を選択可能</a:t>
            </a:r>
            <a:endParaRPr lang="en-US" altLang="ja-JP" sz="2400" dirty="0"/>
          </a:p>
          <a:p>
            <a:endParaRPr lang="ja-JP" altLang="en-US" sz="2400" dirty="0"/>
          </a:p>
          <a:p>
            <a:r>
              <a:rPr lang="ja-JP" altLang="en-US" sz="2400" dirty="0"/>
              <a:t>〇給料計算期間</a:t>
            </a:r>
          </a:p>
          <a:p>
            <a:r>
              <a:rPr lang="ja-JP" altLang="en-US" sz="2400" dirty="0"/>
              <a:t>・毎月1日～末日、毎月15日締めなど　※勤務実績の集計期間を定義</a:t>
            </a:r>
            <a:endParaRPr lang="en-US" altLang="ja-JP" sz="2400" dirty="0"/>
          </a:p>
          <a:p>
            <a:endParaRPr lang="ja-JP" altLang="en-US" sz="2400" dirty="0"/>
          </a:p>
          <a:p>
            <a:r>
              <a:rPr lang="ja-JP" altLang="en-US" sz="2400" dirty="0"/>
              <a:t>〇深夜割増設定</a:t>
            </a:r>
          </a:p>
          <a:p>
            <a:r>
              <a:rPr lang="ja-JP" altLang="en-US" sz="2400" dirty="0"/>
              <a:t>・割増率(%)と適用時間帯(例:22:00～5:00)　※割増計算が必要な場合に設定</a:t>
            </a:r>
          </a:p>
        </p:txBody>
      </p:sp>
      <p:sp>
        <p:nvSpPr>
          <p:cNvPr id="5" name="テキスト ボックス 4">
            <a:extLst>
              <a:ext uri="{FF2B5EF4-FFF2-40B4-BE49-F238E27FC236}">
                <a16:creationId xmlns:a16="http://schemas.microsoft.com/office/drawing/2014/main" id="{25D55A41-E640-730F-C9DC-AFFF754707D7}"/>
              </a:ext>
            </a:extLst>
          </p:cNvPr>
          <p:cNvSpPr txBox="1"/>
          <p:nvPr/>
        </p:nvSpPr>
        <p:spPr>
          <a:xfrm>
            <a:off x="711327" y="418838"/>
            <a:ext cx="6094476" cy="523220"/>
          </a:xfrm>
          <a:prstGeom prst="rect">
            <a:avLst/>
          </a:prstGeom>
          <a:noFill/>
        </p:spPr>
        <p:txBody>
          <a:bodyPr wrap="square">
            <a:spAutoFit/>
          </a:bodyPr>
          <a:lstStyle/>
          <a:p>
            <a:r>
              <a:rPr lang="ja-JP" altLang="en-US" sz="2800" b="1" dirty="0"/>
              <a:t>■アルバイト先情報登録機能</a:t>
            </a:r>
          </a:p>
        </p:txBody>
      </p:sp>
    </p:spTree>
    <p:extLst>
      <p:ext uri="{BB962C8B-B14F-4D97-AF65-F5344CB8AC3E}">
        <p14:creationId xmlns:p14="http://schemas.microsoft.com/office/powerpoint/2010/main" val="318936753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1E64F3-EDBF-8CE0-6E92-BC381496D5AA}"/>
            </a:ext>
          </a:extLst>
        </p:cNvPr>
        <p:cNvGrpSpPr/>
        <p:nvPr/>
      </p:nvGrpSpPr>
      <p:grpSpPr>
        <a:xfrm>
          <a:off x="0" y="0"/>
          <a:ext cx="0" cy="0"/>
          <a:chOff x="0" y="0"/>
          <a:chExt cx="0" cy="0"/>
        </a:xfrm>
      </p:grpSpPr>
      <p:sp>
        <p:nvSpPr>
          <p:cNvPr id="3" name="テキスト ボックス 2">
            <a:extLst>
              <a:ext uri="{FF2B5EF4-FFF2-40B4-BE49-F238E27FC236}">
                <a16:creationId xmlns:a16="http://schemas.microsoft.com/office/drawing/2014/main" id="{1F97FB02-105B-7EAE-93C5-A4C8392CC81A}"/>
              </a:ext>
            </a:extLst>
          </p:cNvPr>
          <p:cNvSpPr txBox="1"/>
          <p:nvPr/>
        </p:nvSpPr>
        <p:spPr>
          <a:xfrm>
            <a:off x="971931" y="856357"/>
            <a:ext cx="10248138" cy="6001643"/>
          </a:xfrm>
          <a:prstGeom prst="rect">
            <a:avLst/>
          </a:prstGeom>
          <a:noFill/>
        </p:spPr>
        <p:txBody>
          <a:bodyPr wrap="square">
            <a:spAutoFit/>
          </a:bodyPr>
          <a:lstStyle/>
          <a:p>
            <a:r>
              <a:rPr lang="ja-JP" altLang="en-US" sz="2400" dirty="0"/>
              <a:t>〇日付</a:t>
            </a:r>
          </a:p>
          <a:p>
            <a:r>
              <a:rPr lang="ja-JP" altLang="en-US" sz="2400" dirty="0"/>
              <a:t>・自動表示</a:t>
            </a:r>
            <a:endParaRPr lang="en-US" altLang="ja-JP" sz="2400" dirty="0"/>
          </a:p>
          <a:p>
            <a:endParaRPr lang="ja-JP" altLang="en-US" sz="2400" dirty="0"/>
          </a:p>
          <a:p>
            <a:r>
              <a:rPr lang="ja-JP" altLang="en-US" sz="2400" dirty="0"/>
              <a:t>〇バイト先</a:t>
            </a:r>
          </a:p>
          <a:p>
            <a:r>
              <a:rPr lang="ja-JP" altLang="en-US" sz="2400" dirty="0"/>
              <a:t>・登録済みのバイト先を選択　※掛け持ちの場合に選択</a:t>
            </a:r>
            <a:endParaRPr lang="en-US" altLang="ja-JP" sz="2400" dirty="0"/>
          </a:p>
          <a:p>
            <a:endParaRPr lang="ja-JP" altLang="en-US" sz="2400" dirty="0"/>
          </a:p>
          <a:p>
            <a:r>
              <a:rPr lang="ja-JP" altLang="en-US" sz="2400" dirty="0"/>
              <a:t>〇出勤時間</a:t>
            </a:r>
            <a:r>
              <a:rPr lang="en-US" altLang="ja-JP" sz="2400" dirty="0"/>
              <a:t>,</a:t>
            </a:r>
            <a:r>
              <a:rPr lang="ja-JP" altLang="en-US" sz="2400" dirty="0"/>
              <a:t>退勤時間</a:t>
            </a:r>
            <a:r>
              <a:rPr lang="en-US" altLang="ja-JP" sz="2400" dirty="0"/>
              <a:t>,</a:t>
            </a:r>
            <a:r>
              <a:rPr lang="ja-JP" altLang="en-US" sz="2400" dirty="0"/>
              <a:t>休憩時間</a:t>
            </a:r>
          </a:p>
          <a:p>
            <a:r>
              <a:rPr lang="ja-JP" altLang="en-US" sz="2400" dirty="0"/>
              <a:t>・時:分</a:t>
            </a:r>
          </a:p>
          <a:p>
            <a:r>
              <a:rPr lang="ja-JP" altLang="en-US" sz="2400" dirty="0"/>
              <a:t>※勤務時間から自動で控除される</a:t>
            </a:r>
            <a:endParaRPr lang="en-US" altLang="ja-JP" sz="2400" dirty="0"/>
          </a:p>
          <a:p>
            <a:endParaRPr lang="en-US" altLang="ja-JP" sz="2400" dirty="0"/>
          </a:p>
          <a:p>
            <a:r>
              <a:rPr lang="ja-JP" altLang="en-US" sz="2400" dirty="0"/>
              <a:t>〇退勤した際にボタン押したらカレンダーに退勤時間をメモしてくれる</a:t>
            </a:r>
            <a:endParaRPr lang="en-US" altLang="ja-JP" sz="2400" dirty="0"/>
          </a:p>
          <a:p>
            <a:r>
              <a:rPr lang="ja-JP" altLang="en-US" sz="2400" dirty="0"/>
              <a:t>→ボタンはホーム画面とかに追加</a:t>
            </a:r>
            <a:endParaRPr lang="en-US" altLang="ja-JP" sz="2400" dirty="0"/>
          </a:p>
          <a:p>
            <a:endParaRPr lang="ja-JP" altLang="en-US" sz="2400" dirty="0"/>
          </a:p>
          <a:p>
            <a:r>
              <a:rPr lang="ja-JP" altLang="en-US" sz="2400" dirty="0"/>
              <a:t>〇ステータス</a:t>
            </a:r>
          </a:p>
          <a:p>
            <a:r>
              <a:rPr lang="ja-JP" altLang="en-US" sz="2400" dirty="0"/>
              <a:t>・予定/実績</a:t>
            </a:r>
          </a:p>
          <a:p>
            <a:r>
              <a:rPr lang="ja-JP" altLang="en-US" sz="2400" dirty="0"/>
              <a:t>※実績として登録されたもののみが給与計算の対象となる</a:t>
            </a:r>
          </a:p>
        </p:txBody>
      </p:sp>
      <p:sp>
        <p:nvSpPr>
          <p:cNvPr id="5" name="テキスト ボックス 4">
            <a:extLst>
              <a:ext uri="{FF2B5EF4-FFF2-40B4-BE49-F238E27FC236}">
                <a16:creationId xmlns:a16="http://schemas.microsoft.com/office/drawing/2014/main" id="{FC7D0EBB-DD1A-1AD0-587C-97B0DF02C647}"/>
              </a:ext>
            </a:extLst>
          </p:cNvPr>
          <p:cNvSpPr txBox="1"/>
          <p:nvPr/>
        </p:nvSpPr>
        <p:spPr>
          <a:xfrm>
            <a:off x="523494" y="400550"/>
            <a:ext cx="6094476" cy="523220"/>
          </a:xfrm>
          <a:prstGeom prst="rect">
            <a:avLst/>
          </a:prstGeom>
          <a:noFill/>
        </p:spPr>
        <p:txBody>
          <a:bodyPr wrap="square">
            <a:spAutoFit/>
          </a:bodyPr>
          <a:lstStyle/>
          <a:p>
            <a:r>
              <a:rPr lang="ja-JP" altLang="en-US" sz="2800" b="1" dirty="0"/>
              <a:t>■シフト・勤務実績入力機能</a:t>
            </a:r>
          </a:p>
        </p:txBody>
      </p:sp>
    </p:spTree>
    <p:extLst>
      <p:ext uri="{BB962C8B-B14F-4D97-AF65-F5344CB8AC3E}">
        <p14:creationId xmlns:p14="http://schemas.microsoft.com/office/powerpoint/2010/main" val="331556630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DB6604-A66E-4420-37BF-B507F6D94841}"/>
            </a:ext>
          </a:extLst>
        </p:cNvPr>
        <p:cNvGrpSpPr/>
        <p:nvPr/>
      </p:nvGrpSpPr>
      <p:grpSpPr>
        <a:xfrm>
          <a:off x="0" y="0"/>
          <a:ext cx="0" cy="0"/>
          <a:chOff x="0" y="0"/>
          <a:chExt cx="0" cy="0"/>
        </a:xfrm>
      </p:grpSpPr>
      <p:sp>
        <p:nvSpPr>
          <p:cNvPr id="3" name="テキスト ボックス 2">
            <a:extLst>
              <a:ext uri="{FF2B5EF4-FFF2-40B4-BE49-F238E27FC236}">
                <a16:creationId xmlns:a16="http://schemas.microsoft.com/office/drawing/2014/main" id="{2C93E424-B459-84CD-77FD-0D45C258B6D2}"/>
              </a:ext>
            </a:extLst>
          </p:cNvPr>
          <p:cNvSpPr txBox="1"/>
          <p:nvPr/>
        </p:nvSpPr>
        <p:spPr>
          <a:xfrm>
            <a:off x="1053846" y="1340579"/>
            <a:ext cx="9644634" cy="4708981"/>
          </a:xfrm>
          <a:prstGeom prst="rect">
            <a:avLst/>
          </a:prstGeom>
          <a:noFill/>
        </p:spPr>
        <p:txBody>
          <a:bodyPr wrap="square">
            <a:spAutoFit/>
          </a:bodyPr>
          <a:lstStyle/>
          <a:p>
            <a:r>
              <a:rPr lang="ja-JP" altLang="en-US" sz="2000" dirty="0"/>
              <a:t>〇計算</a:t>
            </a:r>
          </a:p>
          <a:p>
            <a:r>
              <a:rPr lang="ja-JP" altLang="en-US" sz="2000" dirty="0"/>
              <a:t>・日給</a:t>
            </a:r>
          </a:p>
          <a:p>
            <a:r>
              <a:rPr lang="ja-JP" altLang="en-US" sz="2000" dirty="0"/>
              <a:t>((退勤時間 - 出勤時間 - 休憩時間) × 基本時給)+-交通費</a:t>
            </a:r>
          </a:p>
          <a:p>
            <a:r>
              <a:rPr lang="ja-JP" altLang="en-US" sz="2000" dirty="0"/>
              <a:t>・深夜時間帯に該当する場合、街灯時間分の時給を(基本時給 × 深夜割増率)で計算し、加算する</a:t>
            </a:r>
          </a:p>
          <a:p>
            <a:r>
              <a:rPr lang="ja-JP" altLang="en-US" sz="2000" dirty="0"/>
              <a:t>・月給</a:t>
            </a:r>
          </a:p>
          <a:p>
            <a:r>
              <a:rPr lang="ja-JP" altLang="en-US" sz="2000" dirty="0"/>
              <a:t>計算期間内の日給の合計金額</a:t>
            </a:r>
            <a:endParaRPr lang="en-US" altLang="ja-JP" sz="2000" dirty="0"/>
          </a:p>
          <a:p>
            <a:endParaRPr lang="ja-JP" altLang="en-US" sz="2000" dirty="0"/>
          </a:p>
          <a:p>
            <a:r>
              <a:rPr lang="ja-JP" altLang="en-US" sz="2000" dirty="0"/>
              <a:t>〇表示画面</a:t>
            </a:r>
          </a:p>
          <a:p>
            <a:r>
              <a:rPr lang="ja-JP" altLang="en-US" sz="2000" dirty="0"/>
              <a:t>・ホーム画面</a:t>
            </a:r>
          </a:p>
          <a:p>
            <a:r>
              <a:rPr lang="ja-JP" altLang="en-US" sz="2000" dirty="0"/>
              <a:t>当月の今日うよ計算期間における現時点での見込合計金額を大きく表示</a:t>
            </a:r>
          </a:p>
          <a:p>
            <a:r>
              <a:rPr lang="ja-JP" altLang="en-US" sz="2000" dirty="0"/>
              <a:t>・カレンダー画面</a:t>
            </a:r>
          </a:p>
          <a:p>
            <a:r>
              <a:rPr lang="ja-JP" altLang="en-US" sz="2000" dirty="0"/>
              <a:t>各日付の下に、その日の日給見込額を表示</a:t>
            </a:r>
          </a:p>
          <a:p>
            <a:r>
              <a:rPr lang="ja-JP" altLang="en-US" sz="2000" dirty="0"/>
              <a:t>・履歴画面</a:t>
            </a:r>
          </a:p>
          <a:p>
            <a:r>
              <a:rPr lang="ja-JP" altLang="en-US" sz="2000" dirty="0"/>
              <a:t>過去の月ごとの最終確定給与額を一覧表示</a:t>
            </a:r>
          </a:p>
        </p:txBody>
      </p:sp>
      <p:sp>
        <p:nvSpPr>
          <p:cNvPr id="5" name="テキスト ボックス 4">
            <a:extLst>
              <a:ext uri="{FF2B5EF4-FFF2-40B4-BE49-F238E27FC236}">
                <a16:creationId xmlns:a16="http://schemas.microsoft.com/office/drawing/2014/main" id="{599FDEBD-110C-0F1C-0C75-5C4753F85BBD}"/>
              </a:ext>
            </a:extLst>
          </p:cNvPr>
          <p:cNvSpPr txBox="1"/>
          <p:nvPr/>
        </p:nvSpPr>
        <p:spPr>
          <a:xfrm>
            <a:off x="697230" y="473702"/>
            <a:ext cx="6094476" cy="523220"/>
          </a:xfrm>
          <a:prstGeom prst="rect">
            <a:avLst/>
          </a:prstGeom>
          <a:noFill/>
        </p:spPr>
        <p:txBody>
          <a:bodyPr wrap="square">
            <a:spAutoFit/>
          </a:bodyPr>
          <a:lstStyle/>
          <a:p>
            <a:r>
              <a:rPr lang="ja-JP" altLang="en-US" sz="2800" b="1" dirty="0"/>
              <a:t>■給与見込み計算・表示機能</a:t>
            </a:r>
          </a:p>
        </p:txBody>
      </p:sp>
    </p:spTree>
    <p:extLst>
      <p:ext uri="{BB962C8B-B14F-4D97-AF65-F5344CB8AC3E}">
        <p14:creationId xmlns:p14="http://schemas.microsoft.com/office/powerpoint/2010/main" val="404055331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6D28E644-B34D-E3F0-6BB5-02CCFF11A599}"/>
              </a:ext>
            </a:extLst>
          </p:cNvPr>
          <p:cNvSpPr txBox="1"/>
          <p:nvPr/>
        </p:nvSpPr>
        <p:spPr>
          <a:xfrm>
            <a:off x="1005840" y="822960"/>
            <a:ext cx="6044184" cy="523220"/>
          </a:xfrm>
          <a:prstGeom prst="rect">
            <a:avLst/>
          </a:prstGeom>
          <a:noFill/>
        </p:spPr>
        <p:txBody>
          <a:bodyPr wrap="square" rtlCol="0">
            <a:spAutoFit/>
          </a:bodyPr>
          <a:lstStyle/>
          <a:p>
            <a:r>
              <a:rPr lang="ja-JP" altLang="en-US" sz="2800" b="1" dirty="0"/>
              <a:t>■</a:t>
            </a:r>
            <a:r>
              <a:rPr kumimoji="1" lang="ja-JP" altLang="en-US" sz="2800" b="1" dirty="0"/>
              <a:t>追加するかもしれない機能</a:t>
            </a:r>
          </a:p>
        </p:txBody>
      </p:sp>
      <p:sp>
        <p:nvSpPr>
          <p:cNvPr id="3" name="テキスト ボックス 2">
            <a:extLst>
              <a:ext uri="{FF2B5EF4-FFF2-40B4-BE49-F238E27FC236}">
                <a16:creationId xmlns:a16="http://schemas.microsoft.com/office/drawing/2014/main" id="{12C90807-8FD5-FB0F-0FF4-8F67F718BEBA}"/>
              </a:ext>
            </a:extLst>
          </p:cNvPr>
          <p:cNvSpPr txBox="1"/>
          <p:nvPr/>
        </p:nvSpPr>
        <p:spPr>
          <a:xfrm>
            <a:off x="1005840" y="1719072"/>
            <a:ext cx="10442448" cy="1938992"/>
          </a:xfrm>
          <a:prstGeom prst="rect">
            <a:avLst/>
          </a:prstGeom>
          <a:noFill/>
        </p:spPr>
        <p:txBody>
          <a:bodyPr wrap="square" rtlCol="0">
            <a:spAutoFit/>
          </a:bodyPr>
          <a:lstStyle/>
          <a:p>
            <a:r>
              <a:rPr kumimoji="1" lang="ja-JP" altLang="en-US" sz="2400" dirty="0"/>
              <a:t>〇退勤した際にボタン押したらカレンダーに退勤時間をメモしてくれる</a:t>
            </a:r>
            <a:endParaRPr kumimoji="1" lang="en-US" altLang="ja-JP" sz="2400" dirty="0"/>
          </a:p>
          <a:p>
            <a:r>
              <a:rPr lang="ja-JP" altLang="en-US" sz="2400" dirty="0"/>
              <a:t>→ボタンはホーム画面とかに追加（追加済み）</a:t>
            </a:r>
            <a:endParaRPr lang="en-US" altLang="ja-JP" sz="2400" dirty="0"/>
          </a:p>
          <a:p>
            <a:endParaRPr lang="en-US" altLang="ja-JP" sz="2400" dirty="0"/>
          </a:p>
          <a:p>
            <a:endParaRPr kumimoji="1" lang="en-US" altLang="ja-JP" sz="2400" dirty="0"/>
          </a:p>
          <a:p>
            <a:r>
              <a:rPr lang="ja-JP" altLang="en-US" sz="2400" dirty="0"/>
              <a:t>〇</a:t>
            </a:r>
            <a:endParaRPr kumimoji="1" lang="ja-JP" altLang="en-US" sz="2400" dirty="0"/>
          </a:p>
        </p:txBody>
      </p:sp>
    </p:spTree>
    <p:extLst>
      <p:ext uri="{BB962C8B-B14F-4D97-AF65-F5344CB8AC3E}">
        <p14:creationId xmlns:p14="http://schemas.microsoft.com/office/powerpoint/2010/main" val="11328764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7B42907A-861D-8F98-0FC5-619DB083C4F2}"/>
              </a:ext>
            </a:extLst>
          </p:cNvPr>
          <p:cNvSpPr txBox="1"/>
          <p:nvPr/>
        </p:nvSpPr>
        <p:spPr>
          <a:xfrm>
            <a:off x="1005840" y="822960"/>
            <a:ext cx="6044184" cy="523220"/>
          </a:xfrm>
          <a:prstGeom prst="rect">
            <a:avLst/>
          </a:prstGeom>
          <a:noFill/>
        </p:spPr>
        <p:txBody>
          <a:bodyPr wrap="square" rtlCol="0">
            <a:spAutoFit/>
          </a:bodyPr>
          <a:lstStyle/>
          <a:p>
            <a:r>
              <a:rPr lang="ja-JP" altLang="en-US" sz="2800" b="1" dirty="0"/>
              <a:t>■未実装</a:t>
            </a:r>
            <a:r>
              <a:rPr kumimoji="1" lang="ja-JP" altLang="en-US" sz="2800" b="1" dirty="0"/>
              <a:t>機能</a:t>
            </a:r>
          </a:p>
        </p:txBody>
      </p:sp>
      <p:sp>
        <p:nvSpPr>
          <p:cNvPr id="7" name="テキスト ボックス 6">
            <a:extLst>
              <a:ext uri="{FF2B5EF4-FFF2-40B4-BE49-F238E27FC236}">
                <a16:creationId xmlns:a16="http://schemas.microsoft.com/office/drawing/2014/main" id="{85CBEBF9-67AC-2816-22C0-E118B5DCD8E1}"/>
              </a:ext>
            </a:extLst>
          </p:cNvPr>
          <p:cNvSpPr txBox="1"/>
          <p:nvPr/>
        </p:nvSpPr>
        <p:spPr>
          <a:xfrm>
            <a:off x="1335024" y="1809851"/>
            <a:ext cx="10442448" cy="2677656"/>
          </a:xfrm>
          <a:prstGeom prst="rect">
            <a:avLst/>
          </a:prstGeom>
          <a:noFill/>
        </p:spPr>
        <p:txBody>
          <a:bodyPr wrap="square" rtlCol="0">
            <a:spAutoFit/>
          </a:bodyPr>
          <a:lstStyle/>
          <a:p>
            <a:r>
              <a:rPr kumimoji="1" lang="ja-JP" altLang="en-US" sz="2400" dirty="0"/>
              <a:t>〇交通費の計算</a:t>
            </a:r>
            <a:endParaRPr kumimoji="1" lang="en-US" altLang="ja-JP" sz="2400" dirty="0"/>
          </a:p>
          <a:p>
            <a:endParaRPr lang="en-US" altLang="ja-JP" sz="2400" dirty="0"/>
          </a:p>
          <a:p>
            <a:r>
              <a:rPr kumimoji="1" lang="ja-JP" altLang="en-US" sz="2400" dirty="0"/>
              <a:t>〇深夜の割増の計算</a:t>
            </a:r>
            <a:endParaRPr kumimoji="1" lang="en-US" altLang="ja-JP" sz="2400" dirty="0"/>
          </a:p>
          <a:p>
            <a:endParaRPr lang="en-US" altLang="ja-JP" sz="2400" dirty="0"/>
          </a:p>
          <a:p>
            <a:r>
              <a:rPr kumimoji="1" lang="ja-JP" altLang="en-US" sz="2400" dirty="0"/>
              <a:t>〇登録方法</a:t>
            </a:r>
            <a:endParaRPr kumimoji="1" lang="en-US" altLang="ja-JP" sz="2400" dirty="0"/>
          </a:p>
          <a:p>
            <a:endParaRPr lang="en-US" altLang="ja-JP" sz="2400" dirty="0"/>
          </a:p>
          <a:p>
            <a:r>
              <a:rPr kumimoji="1" lang="ja-JP" altLang="en-US" sz="2400"/>
              <a:t>〇掛け持ちしてる人のメリットがある機能△</a:t>
            </a:r>
            <a:endParaRPr kumimoji="1" lang="en-US" altLang="ja-JP" sz="2400" dirty="0"/>
          </a:p>
        </p:txBody>
      </p:sp>
    </p:spTree>
    <p:extLst>
      <p:ext uri="{BB962C8B-B14F-4D97-AF65-F5344CB8AC3E}">
        <p14:creationId xmlns:p14="http://schemas.microsoft.com/office/powerpoint/2010/main" val="3386614561"/>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517</TotalTime>
  <Words>521</Words>
  <Application>Microsoft Office PowerPoint</Application>
  <PresentationFormat>ワイド画面</PresentationFormat>
  <Paragraphs>94</Paragraphs>
  <Slides>9</Slides>
  <Notes>0</Notes>
  <HiddenSlides>0</HiddenSlides>
  <MMClips>0</MMClips>
  <ScaleCrop>false</ScaleCrop>
  <HeadingPairs>
    <vt:vector size="6" baseType="variant">
      <vt:variant>
        <vt:lpstr>使用されているフォント</vt:lpstr>
      </vt:variant>
      <vt:variant>
        <vt:i4>3</vt:i4>
      </vt:variant>
      <vt:variant>
        <vt:lpstr>テーマ</vt:lpstr>
      </vt:variant>
      <vt:variant>
        <vt:i4>1</vt:i4>
      </vt:variant>
      <vt:variant>
        <vt:lpstr>スライド タイトル</vt:lpstr>
      </vt:variant>
      <vt:variant>
        <vt:i4>9</vt:i4>
      </vt:variant>
    </vt:vector>
  </HeadingPairs>
  <TitlesOfParts>
    <vt:vector size="13" baseType="lpstr">
      <vt:lpstr>游ゴシック</vt:lpstr>
      <vt:lpstr>游ゴシック Light</vt:lpstr>
      <vt:lpstr>Arial</vt:lpstr>
      <vt:lpstr>Office テーマ</vt:lpstr>
      <vt:lpstr>Mobileアプリ仕様書</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小林 健人(zeal23418160)</dc:creator>
  <cp:lastModifiedBy>小林 健人(zeal23418160)</cp:lastModifiedBy>
  <cp:revision>5</cp:revision>
  <dcterms:created xsi:type="dcterms:W3CDTF">2026-05-20T01:24:24Z</dcterms:created>
  <dcterms:modified xsi:type="dcterms:W3CDTF">2026-06-17T07:20:08Z</dcterms:modified>
</cp:coreProperties>
</file>