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61"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F49B4E-5BD5-5F27-2273-9EFF8BC9D22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20EC5CC-3E2F-2C5D-A400-17FBC7683F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5E49179-616E-AB73-798D-B535E802FD96}"/>
              </a:ext>
            </a:extLst>
          </p:cNvPr>
          <p:cNvSpPr>
            <a:spLocks noGrp="1"/>
          </p:cNvSpPr>
          <p:nvPr>
            <p:ph type="dt" sz="half" idx="10"/>
          </p:nvPr>
        </p:nvSpPr>
        <p:spPr/>
        <p:txBody>
          <a:bodyPr/>
          <a:lstStyle/>
          <a:p>
            <a:fld id="{1FA684D6-C116-4B88-A091-87E1D0234432}" type="datetimeFigureOut">
              <a:rPr kumimoji="1" lang="ja-JP" altLang="en-US" smtClean="0"/>
              <a:t>2026/5/20</a:t>
            </a:fld>
            <a:endParaRPr kumimoji="1" lang="ja-JP" altLang="en-US"/>
          </a:p>
        </p:txBody>
      </p:sp>
      <p:sp>
        <p:nvSpPr>
          <p:cNvPr id="5" name="フッター プレースホルダー 4">
            <a:extLst>
              <a:ext uri="{FF2B5EF4-FFF2-40B4-BE49-F238E27FC236}">
                <a16:creationId xmlns:a16="http://schemas.microsoft.com/office/drawing/2014/main" id="{5D883F8C-09A2-1694-0C95-41F69B60E2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3B03D28-458E-6E81-30AE-B11D3C9508CC}"/>
              </a:ext>
            </a:extLst>
          </p:cNvPr>
          <p:cNvSpPr>
            <a:spLocks noGrp="1"/>
          </p:cNvSpPr>
          <p:nvPr>
            <p:ph type="sldNum" sz="quarter" idx="12"/>
          </p:nvPr>
        </p:nvSpPr>
        <p:spPr/>
        <p:txBody>
          <a:bodyPr/>
          <a:lstStyle/>
          <a:p>
            <a:fld id="{24666DD8-89E4-4801-A2BE-4405492756BB}" type="slidenum">
              <a:rPr kumimoji="1" lang="ja-JP" altLang="en-US" smtClean="0"/>
              <a:t>‹#›</a:t>
            </a:fld>
            <a:endParaRPr kumimoji="1" lang="ja-JP" altLang="en-US"/>
          </a:p>
        </p:txBody>
      </p:sp>
    </p:spTree>
    <p:extLst>
      <p:ext uri="{BB962C8B-B14F-4D97-AF65-F5344CB8AC3E}">
        <p14:creationId xmlns:p14="http://schemas.microsoft.com/office/powerpoint/2010/main" val="225919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2EB25F-5172-974E-91DC-D9BD4F6C05E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BC1F70B-067C-501F-7763-1DBCC7CBBDC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9FC5CD9-AC40-C4FA-7B19-ED6ED50ED134}"/>
              </a:ext>
            </a:extLst>
          </p:cNvPr>
          <p:cNvSpPr>
            <a:spLocks noGrp="1"/>
          </p:cNvSpPr>
          <p:nvPr>
            <p:ph type="dt" sz="half" idx="10"/>
          </p:nvPr>
        </p:nvSpPr>
        <p:spPr/>
        <p:txBody>
          <a:bodyPr/>
          <a:lstStyle/>
          <a:p>
            <a:fld id="{1FA684D6-C116-4B88-A091-87E1D0234432}" type="datetimeFigureOut">
              <a:rPr kumimoji="1" lang="ja-JP" altLang="en-US" smtClean="0"/>
              <a:t>2026/5/20</a:t>
            </a:fld>
            <a:endParaRPr kumimoji="1" lang="ja-JP" altLang="en-US"/>
          </a:p>
        </p:txBody>
      </p:sp>
      <p:sp>
        <p:nvSpPr>
          <p:cNvPr id="5" name="フッター プレースホルダー 4">
            <a:extLst>
              <a:ext uri="{FF2B5EF4-FFF2-40B4-BE49-F238E27FC236}">
                <a16:creationId xmlns:a16="http://schemas.microsoft.com/office/drawing/2014/main" id="{F66E4C5D-7510-B39C-7B8E-2C0431C9BFA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9C03430-2ED6-2B54-6B34-F9BEC24C37C3}"/>
              </a:ext>
            </a:extLst>
          </p:cNvPr>
          <p:cNvSpPr>
            <a:spLocks noGrp="1"/>
          </p:cNvSpPr>
          <p:nvPr>
            <p:ph type="sldNum" sz="quarter" idx="12"/>
          </p:nvPr>
        </p:nvSpPr>
        <p:spPr/>
        <p:txBody>
          <a:bodyPr/>
          <a:lstStyle/>
          <a:p>
            <a:fld id="{24666DD8-89E4-4801-A2BE-4405492756BB}" type="slidenum">
              <a:rPr kumimoji="1" lang="ja-JP" altLang="en-US" smtClean="0"/>
              <a:t>‹#›</a:t>
            </a:fld>
            <a:endParaRPr kumimoji="1" lang="ja-JP" altLang="en-US"/>
          </a:p>
        </p:txBody>
      </p:sp>
    </p:spTree>
    <p:extLst>
      <p:ext uri="{BB962C8B-B14F-4D97-AF65-F5344CB8AC3E}">
        <p14:creationId xmlns:p14="http://schemas.microsoft.com/office/powerpoint/2010/main" val="3096598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D08E38-2683-36FD-DB45-A01A4D7F67A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1DEA92C-BE49-16A7-163D-AEF2F296B5F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ECDF947-04BB-12CC-EB58-F632EDF8CB38}"/>
              </a:ext>
            </a:extLst>
          </p:cNvPr>
          <p:cNvSpPr>
            <a:spLocks noGrp="1"/>
          </p:cNvSpPr>
          <p:nvPr>
            <p:ph type="dt" sz="half" idx="10"/>
          </p:nvPr>
        </p:nvSpPr>
        <p:spPr/>
        <p:txBody>
          <a:bodyPr/>
          <a:lstStyle/>
          <a:p>
            <a:fld id="{1FA684D6-C116-4B88-A091-87E1D0234432}" type="datetimeFigureOut">
              <a:rPr kumimoji="1" lang="ja-JP" altLang="en-US" smtClean="0"/>
              <a:t>2026/5/20</a:t>
            </a:fld>
            <a:endParaRPr kumimoji="1" lang="ja-JP" altLang="en-US"/>
          </a:p>
        </p:txBody>
      </p:sp>
      <p:sp>
        <p:nvSpPr>
          <p:cNvPr id="5" name="フッター プレースホルダー 4">
            <a:extLst>
              <a:ext uri="{FF2B5EF4-FFF2-40B4-BE49-F238E27FC236}">
                <a16:creationId xmlns:a16="http://schemas.microsoft.com/office/drawing/2014/main" id="{70D51683-0F96-EFDA-C531-CADA7A4AB18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1311C98-A635-D9F6-490D-007BE1027019}"/>
              </a:ext>
            </a:extLst>
          </p:cNvPr>
          <p:cNvSpPr>
            <a:spLocks noGrp="1"/>
          </p:cNvSpPr>
          <p:nvPr>
            <p:ph type="sldNum" sz="quarter" idx="12"/>
          </p:nvPr>
        </p:nvSpPr>
        <p:spPr/>
        <p:txBody>
          <a:bodyPr/>
          <a:lstStyle/>
          <a:p>
            <a:fld id="{24666DD8-89E4-4801-A2BE-4405492756BB}" type="slidenum">
              <a:rPr kumimoji="1" lang="ja-JP" altLang="en-US" smtClean="0"/>
              <a:t>‹#›</a:t>
            </a:fld>
            <a:endParaRPr kumimoji="1" lang="ja-JP" altLang="en-US"/>
          </a:p>
        </p:txBody>
      </p:sp>
    </p:spTree>
    <p:extLst>
      <p:ext uri="{BB962C8B-B14F-4D97-AF65-F5344CB8AC3E}">
        <p14:creationId xmlns:p14="http://schemas.microsoft.com/office/powerpoint/2010/main" val="3774923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93F93D-F55C-D990-BC36-05350E7B3BA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7773AE1-1053-4E71-DFA7-584871C197E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E9C9833-D896-2653-9961-B33D0C63490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07A097D-D2D1-6B99-9FAE-BA4CCC5BD6DD}"/>
              </a:ext>
            </a:extLst>
          </p:cNvPr>
          <p:cNvSpPr>
            <a:spLocks noGrp="1"/>
          </p:cNvSpPr>
          <p:nvPr>
            <p:ph type="dt" sz="half" idx="10"/>
          </p:nvPr>
        </p:nvSpPr>
        <p:spPr/>
        <p:txBody>
          <a:bodyPr/>
          <a:lstStyle/>
          <a:p>
            <a:fld id="{1FA684D6-C116-4B88-A091-87E1D0234432}" type="datetimeFigureOut">
              <a:rPr kumimoji="1" lang="ja-JP" altLang="en-US" smtClean="0"/>
              <a:t>2026/5/20</a:t>
            </a:fld>
            <a:endParaRPr kumimoji="1" lang="ja-JP" altLang="en-US"/>
          </a:p>
        </p:txBody>
      </p:sp>
      <p:sp>
        <p:nvSpPr>
          <p:cNvPr id="6" name="フッター プレースホルダー 5">
            <a:extLst>
              <a:ext uri="{FF2B5EF4-FFF2-40B4-BE49-F238E27FC236}">
                <a16:creationId xmlns:a16="http://schemas.microsoft.com/office/drawing/2014/main" id="{70EA6F32-B959-F91E-A19C-4E813E8B63B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E54058B-A617-CDA3-CC4C-3F1B82C0B0AC}"/>
              </a:ext>
            </a:extLst>
          </p:cNvPr>
          <p:cNvSpPr>
            <a:spLocks noGrp="1"/>
          </p:cNvSpPr>
          <p:nvPr>
            <p:ph type="sldNum" sz="quarter" idx="12"/>
          </p:nvPr>
        </p:nvSpPr>
        <p:spPr/>
        <p:txBody>
          <a:bodyPr/>
          <a:lstStyle/>
          <a:p>
            <a:fld id="{24666DD8-89E4-4801-A2BE-4405492756BB}" type="slidenum">
              <a:rPr kumimoji="1" lang="ja-JP" altLang="en-US" smtClean="0"/>
              <a:t>‹#›</a:t>
            </a:fld>
            <a:endParaRPr kumimoji="1" lang="ja-JP" altLang="en-US"/>
          </a:p>
        </p:txBody>
      </p:sp>
    </p:spTree>
    <p:extLst>
      <p:ext uri="{BB962C8B-B14F-4D97-AF65-F5344CB8AC3E}">
        <p14:creationId xmlns:p14="http://schemas.microsoft.com/office/powerpoint/2010/main" val="1149195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740B4E-B72E-9BFF-63DF-55BC1583629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B8E6522-D85B-0152-1962-E607B47596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9EAAF12-09E6-6288-9D1F-D4DE5A38508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6EA45A5-5A24-1345-852E-AB5630EE0C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4CEC84E-2967-13F8-3F11-D7D84ABC5A6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97BD69B-4EA1-1390-1C4C-8B3B6A45546C}"/>
              </a:ext>
            </a:extLst>
          </p:cNvPr>
          <p:cNvSpPr>
            <a:spLocks noGrp="1"/>
          </p:cNvSpPr>
          <p:nvPr>
            <p:ph type="dt" sz="half" idx="10"/>
          </p:nvPr>
        </p:nvSpPr>
        <p:spPr/>
        <p:txBody>
          <a:bodyPr/>
          <a:lstStyle/>
          <a:p>
            <a:fld id="{1FA684D6-C116-4B88-A091-87E1D0234432}" type="datetimeFigureOut">
              <a:rPr kumimoji="1" lang="ja-JP" altLang="en-US" smtClean="0"/>
              <a:t>2026/5/20</a:t>
            </a:fld>
            <a:endParaRPr kumimoji="1" lang="ja-JP" altLang="en-US"/>
          </a:p>
        </p:txBody>
      </p:sp>
      <p:sp>
        <p:nvSpPr>
          <p:cNvPr id="8" name="フッター プレースホルダー 7">
            <a:extLst>
              <a:ext uri="{FF2B5EF4-FFF2-40B4-BE49-F238E27FC236}">
                <a16:creationId xmlns:a16="http://schemas.microsoft.com/office/drawing/2014/main" id="{3A3B64A7-D25F-5EE6-F55F-12535EF0FF8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98FC3BD-A48B-E04F-43E1-845D701730CA}"/>
              </a:ext>
            </a:extLst>
          </p:cNvPr>
          <p:cNvSpPr>
            <a:spLocks noGrp="1"/>
          </p:cNvSpPr>
          <p:nvPr>
            <p:ph type="sldNum" sz="quarter" idx="12"/>
          </p:nvPr>
        </p:nvSpPr>
        <p:spPr/>
        <p:txBody>
          <a:bodyPr/>
          <a:lstStyle/>
          <a:p>
            <a:fld id="{24666DD8-89E4-4801-A2BE-4405492756BB}" type="slidenum">
              <a:rPr kumimoji="1" lang="ja-JP" altLang="en-US" smtClean="0"/>
              <a:t>‹#›</a:t>
            </a:fld>
            <a:endParaRPr kumimoji="1" lang="ja-JP" altLang="en-US"/>
          </a:p>
        </p:txBody>
      </p:sp>
    </p:spTree>
    <p:extLst>
      <p:ext uri="{BB962C8B-B14F-4D97-AF65-F5344CB8AC3E}">
        <p14:creationId xmlns:p14="http://schemas.microsoft.com/office/powerpoint/2010/main" val="3946873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7CA639-E219-429A-C744-ED237330D57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15FD197-0E7B-258A-266F-B13239BC2BA4}"/>
              </a:ext>
            </a:extLst>
          </p:cNvPr>
          <p:cNvSpPr>
            <a:spLocks noGrp="1"/>
          </p:cNvSpPr>
          <p:nvPr>
            <p:ph type="dt" sz="half" idx="10"/>
          </p:nvPr>
        </p:nvSpPr>
        <p:spPr/>
        <p:txBody>
          <a:bodyPr/>
          <a:lstStyle/>
          <a:p>
            <a:fld id="{1FA684D6-C116-4B88-A091-87E1D0234432}" type="datetimeFigureOut">
              <a:rPr kumimoji="1" lang="ja-JP" altLang="en-US" smtClean="0"/>
              <a:t>2026/5/20</a:t>
            </a:fld>
            <a:endParaRPr kumimoji="1" lang="ja-JP" altLang="en-US"/>
          </a:p>
        </p:txBody>
      </p:sp>
      <p:sp>
        <p:nvSpPr>
          <p:cNvPr id="4" name="フッター プレースホルダー 3">
            <a:extLst>
              <a:ext uri="{FF2B5EF4-FFF2-40B4-BE49-F238E27FC236}">
                <a16:creationId xmlns:a16="http://schemas.microsoft.com/office/drawing/2014/main" id="{CEB81E40-27FD-8E91-13C0-75B64189DC5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08FFEFF-496C-7DD8-D9BE-5B36FDF95BE1}"/>
              </a:ext>
            </a:extLst>
          </p:cNvPr>
          <p:cNvSpPr>
            <a:spLocks noGrp="1"/>
          </p:cNvSpPr>
          <p:nvPr>
            <p:ph type="sldNum" sz="quarter" idx="12"/>
          </p:nvPr>
        </p:nvSpPr>
        <p:spPr/>
        <p:txBody>
          <a:bodyPr/>
          <a:lstStyle/>
          <a:p>
            <a:fld id="{24666DD8-89E4-4801-A2BE-4405492756BB}" type="slidenum">
              <a:rPr kumimoji="1" lang="ja-JP" altLang="en-US" smtClean="0"/>
              <a:t>‹#›</a:t>
            </a:fld>
            <a:endParaRPr kumimoji="1" lang="ja-JP" altLang="en-US"/>
          </a:p>
        </p:txBody>
      </p:sp>
    </p:spTree>
    <p:extLst>
      <p:ext uri="{BB962C8B-B14F-4D97-AF65-F5344CB8AC3E}">
        <p14:creationId xmlns:p14="http://schemas.microsoft.com/office/powerpoint/2010/main" val="4189780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2D7BB6D-4467-A594-8D96-13BAB9448459}"/>
              </a:ext>
            </a:extLst>
          </p:cNvPr>
          <p:cNvSpPr>
            <a:spLocks noGrp="1"/>
          </p:cNvSpPr>
          <p:nvPr>
            <p:ph type="dt" sz="half" idx="10"/>
          </p:nvPr>
        </p:nvSpPr>
        <p:spPr/>
        <p:txBody>
          <a:bodyPr/>
          <a:lstStyle/>
          <a:p>
            <a:fld id="{1FA684D6-C116-4B88-A091-87E1D0234432}" type="datetimeFigureOut">
              <a:rPr kumimoji="1" lang="ja-JP" altLang="en-US" smtClean="0"/>
              <a:t>2026/5/20</a:t>
            </a:fld>
            <a:endParaRPr kumimoji="1" lang="ja-JP" altLang="en-US"/>
          </a:p>
        </p:txBody>
      </p:sp>
      <p:sp>
        <p:nvSpPr>
          <p:cNvPr id="3" name="フッター プレースホルダー 2">
            <a:extLst>
              <a:ext uri="{FF2B5EF4-FFF2-40B4-BE49-F238E27FC236}">
                <a16:creationId xmlns:a16="http://schemas.microsoft.com/office/drawing/2014/main" id="{46D6FFC5-E4CB-5143-C84D-873C4DEADB7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2F851D3-1B3B-6FEA-F461-D5675F8B84F6}"/>
              </a:ext>
            </a:extLst>
          </p:cNvPr>
          <p:cNvSpPr>
            <a:spLocks noGrp="1"/>
          </p:cNvSpPr>
          <p:nvPr>
            <p:ph type="sldNum" sz="quarter" idx="12"/>
          </p:nvPr>
        </p:nvSpPr>
        <p:spPr/>
        <p:txBody>
          <a:bodyPr/>
          <a:lstStyle/>
          <a:p>
            <a:fld id="{24666DD8-89E4-4801-A2BE-4405492756BB}" type="slidenum">
              <a:rPr kumimoji="1" lang="ja-JP" altLang="en-US" smtClean="0"/>
              <a:t>‹#›</a:t>
            </a:fld>
            <a:endParaRPr kumimoji="1" lang="ja-JP" altLang="en-US"/>
          </a:p>
        </p:txBody>
      </p:sp>
    </p:spTree>
    <p:extLst>
      <p:ext uri="{BB962C8B-B14F-4D97-AF65-F5344CB8AC3E}">
        <p14:creationId xmlns:p14="http://schemas.microsoft.com/office/powerpoint/2010/main" val="2233846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6D44C6-47B3-4CB5-F92D-B2363548A8E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FEBE3D-7017-130D-3CEF-EFECDC9A69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C269173-EAD5-93E6-C11F-236B09FA10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2F7555E-933F-A834-7A81-A16C803C1E17}"/>
              </a:ext>
            </a:extLst>
          </p:cNvPr>
          <p:cNvSpPr>
            <a:spLocks noGrp="1"/>
          </p:cNvSpPr>
          <p:nvPr>
            <p:ph type="dt" sz="half" idx="10"/>
          </p:nvPr>
        </p:nvSpPr>
        <p:spPr/>
        <p:txBody>
          <a:bodyPr/>
          <a:lstStyle/>
          <a:p>
            <a:fld id="{1FA684D6-C116-4B88-A091-87E1D0234432}" type="datetimeFigureOut">
              <a:rPr kumimoji="1" lang="ja-JP" altLang="en-US" smtClean="0"/>
              <a:t>2026/5/20</a:t>
            </a:fld>
            <a:endParaRPr kumimoji="1" lang="ja-JP" altLang="en-US"/>
          </a:p>
        </p:txBody>
      </p:sp>
      <p:sp>
        <p:nvSpPr>
          <p:cNvPr id="6" name="フッター プレースホルダー 5">
            <a:extLst>
              <a:ext uri="{FF2B5EF4-FFF2-40B4-BE49-F238E27FC236}">
                <a16:creationId xmlns:a16="http://schemas.microsoft.com/office/drawing/2014/main" id="{E8D7472E-FA6A-7189-E68A-16829F6FF77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586F830-7D49-8318-9E1B-E3A23E09C678}"/>
              </a:ext>
            </a:extLst>
          </p:cNvPr>
          <p:cNvSpPr>
            <a:spLocks noGrp="1"/>
          </p:cNvSpPr>
          <p:nvPr>
            <p:ph type="sldNum" sz="quarter" idx="12"/>
          </p:nvPr>
        </p:nvSpPr>
        <p:spPr/>
        <p:txBody>
          <a:bodyPr/>
          <a:lstStyle/>
          <a:p>
            <a:fld id="{24666DD8-89E4-4801-A2BE-4405492756BB}" type="slidenum">
              <a:rPr kumimoji="1" lang="ja-JP" altLang="en-US" smtClean="0"/>
              <a:t>‹#›</a:t>
            </a:fld>
            <a:endParaRPr kumimoji="1" lang="ja-JP" altLang="en-US"/>
          </a:p>
        </p:txBody>
      </p:sp>
    </p:spTree>
    <p:extLst>
      <p:ext uri="{BB962C8B-B14F-4D97-AF65-F5344CB8AC3E}">
        <p14:creationId xmlns:p14="http://schemas.microsoft.com/office/powerpoint/2010/main" val="2875455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C18E92-E647-FBD7-245B-7B27000B819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581A1B5-D689-1297-BB42-80F6137E7A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5164752-3104-1E35-4114-B8F8F5B2BA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F06FE7D-A801-55C4-3239-DF0F10696FA5}"/>
              </a:ext>
            </a:extLst>
          </p:cNvPr>
          <p:cNvSpPr>
            <a:spLocks noGrp="1"/>
          </p:cNvSpPr>
          <p:nvPr>
            <p:ph type="dt" sz="half" idx="10"/>
          </p:nvPr>
        </p:nvSpPr>
        <p:spPr/>
        <p:txBody>
          <a:bodyPr/>
          <a:lstStyle/>
          <a:p>
            <a:fld id="{1FA684D6-C116-4B88-A091-87E1D0234432}" type="datetimeFigureOut">
              <a:rPr kumimoji="1" lang="ja-JP" altLang="en-US" smtClean="0"/>
              <a:t>2026/5/20</a:t>
            </a:fld>
            <a:endParaRPr kumimoji="1" lang="ja-JP" altLang="en-US"/>
          </a:p>
        </p:txBody>
      </p:sp>
      <p:sp>
        <p:nvSpPr>
          <p:cNvPr id="6" name="フッター プレースホルダー 5">
            <a:extLst>
              <a:ext uri="{FF2B5EF4-FFF2-40B4-BE49-F238E27FC236}">
                <a16:creationId xmlns:a16="http://schemas.microsoft.com/office/drawing/2014/main" id="{F14C398E-DEC0-45B8-28BB-117F9C31AB2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848464F-B6CB-29F8-2022-2213B4A671B3}"/>
              </a:ext>
            </a:extLst>
          </p:cNvPr>
          <p:cNvSpPr>
            <a:spLocks noGrp="1"/>
          </p:cNvSpPr>
          <p:nvPr>
            <p:ph type="sldNum" sz="quarter" idx="12"/>
          </p:nvPr>
        </p:nvSpPr>
        <p:spPr/>
        <p:txBody>
          <a:bodyPr/>
          <a:lstStyle/>
          <a:p>
            <a:fld id="{24666DD8-89E4-4801-A2BE-4405492756BB}" type="slidenum">
              <a:rPr kumimoji="1" lang="ja-JP" altLang="en-US" smtClean="0"/>
              <a:t>‹#›</a:t>
            </a:fld>
            <a:endParaRPr kumimoji="1" lang="ja-JP" altLang="en-US"/>
          </a:p>
        </p:txBody>
      </p:sp>
    </p:spTree>
    <p:extLst>
      <p:ext uri="{BB962C8B-B14F-4D97-AF65-F5344CB8AC3E}">
        <p14:creationId xmlns:p14="http://schemas.microsoft.com/office/powerpoint/2010/main" val="326888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357030-2DA8-72BA-DDF7-ED9CB19BBA5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AE5CF57-B8B1-BA95-BB21-3E2D9B26D8C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BD992E4-581E-8B36-9FEB-CE8B60D7555D}"/>
              </a:ext>
            </a:extLst>
          </p:cNvPr>
          <p:cNvSpPr>
            <a:spLocks noGrp="1"/>
          </p:cNvSpPr>
          <p:nvPr>
            <p:ph type="dt" sz="half" idx="10"/>
          </p:nvPr>
        </p:nvSpPr>
        <p:spPr/>
        <p:txBody>
          <a:bodyPr/>
          <a:lstStyle/>
          <a:p>
            <a:fld id="{1FA684D6-C116-4B88-A091-87E1D0234432}" type="datetimeFigureOut">
              <a:rPr kumimoji="1" lang="ja-JP" altLang="en-US" smtClean="0"/>
              <a:t>2026/5/20</a:t>
            </a:fld>
            <a:endParaRPr kumimoji="1" lang="ja-JP" altLang="en-US"/>
          </a:p>
        </p:txBody>
      </p:sp>
      <p:sp>
        <p:nvSpPr>
          <p:cNvPr id="5" name="フッター プレースホルダー 4">
            <a:extLst>
              <a:ext uri="{FF2B5EF4-FFF2-40B4-BE49-F238E27FC236}">
                <a16:creationId xmlns:a16="http://schemas.microsoft.com/office/drawing/2014/main" id="{1F65960C-F9DB-1E4D-923A-E41C9AA178B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AE95471-1733-B091-AF72-8955625442A5}"/>
              </a:ext>
            </a:extLst>
          </p:cNvPr>
          <p:cNvSpPr>
            <a:spLocks noGrp="1"/>
          </p:cNvSpPr>
          <p:nvPr>
            <p:ph type="sldNum" sz="quarter" idx="12"/>
          </p:nvPr>
        </p:nvSpPr>
        <p:spPr/>
        <p:txBody>
          <a:bodyPr/>
          <a:lstStyle/>
          <a:p>
            <a:fld id="{24666DD8-89E4-4801-A2BE-4405492756BB}" type="slidenum">
              <a:rPr kumimoji="1" lang="ja-JP" altLang="en-US" smtClean="0"/>
              <a:t>‹#›</a:t>
            </a:fld>
            <a:endParaRPr kumimoji="1" lang="ja-JP" altLang="en-US"/>
          </a:p>
        </p:txBody>
      </p:sp>
    </p:spTree>
    <p:extLst>
      <p:ext uri="{BB962C8B-B14F-4D97-AF65-F5344CB8AC3E}">
        <p14:creationId xmlns:p14="http://schemas.microsoft.com/office/powerpoint/2010/main" val="795293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89C2E71-5737-416B-DB6A-790EF3F5C84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3D32D7B-6089-490B-3E75-CA39311A8B0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0A7AD4F-9096-79C0-22D3-44919E3DC121}"/>
              </a:ext>
            </a:extLst>
          </p:cNvPr>
          <p:cNvSpPr>
            <a:spLocks noGrp="1"/>
          </p:cNvSpPr>
          <p:nvPr>
            <p:ph type="dt" sz="half" idx="10"/>
          </p:nvPr>
        </p:nvSpPr>
        <p:spPr/>
        <p:txBody>
          <a:bodyPr/>
          <a:lstStyle/>
          <a:p>
            <a:fld id="{1FA684D6-C116-4B88-A091-87E1D0234432}" type="datetimeFigureOut">
              <a:rPr kumimoji="1" lang="ja-JP" altLang="en-US" smtClean="0"/>
              <a:t>2026/5/20</a:t>
            </a:fld>
            <a:endParaRPr kumimoji="1" lang="ja-JP" altLang="en-US"/>
          </a:p>
        </p:txBody>
      </p:sp>
      <p:sp>
        <p:nvSpPr>
          <p:cNvPr id="5" name="フッター プレースホルダー 4">
            <a:extLst>
              <a:ext uri="{FF2B5EF4-FFF2-40B4-BE49-F238E27FC236}">
                <a16:creationId xmlns:a16="http://schemas.microsoft.com/office/drawing/2014/main" id="{B94754DC-C87C-6C73-F50C-287C4B4470D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503EB05-A02A-DD61-5251-D97A2B687A8B}"/>
              </a:ext>
            </a:extLst>
          </p:cNvPr>
          <p:cNvSpPr>
            <a:spLocks noGrp="1"/>
          </p:cNvSpPr>
          <p:nvPr>
            <p:ph type="sldNum" sz="quarter" idx="12"/>
          </p:nvPr>
        </p:nvSpPr>
        <p:spPr/>
        <p:txBody>
          <a:bodyPr/>
          <a:lstStyle/>
          <a:p>
            <a:fld id="{24666DD8-89E4-4801-A2BE-4405492756BB}" type="slidenum">
              <a:rPr kumimoji="1" lang="ja-JP" altLang="en-US" smtClean="0"/>
              <a:t>‹#›</a:t>
            </a:fld>
            <a:endParaRPr kumimoji="1" lang="ja-JP" altLang="en-US"/>
          </a:p>
        </p:txBody>
      </p:sp>
    </p:spTree>
    <p:extLst>
      <p:ext uri="{BB962C8B-B14F-4D97-AF65-F5344CB8AC3E}">
        <p14:creationId xmlns:p14="http://schemas.microsoft.com/office/powerpoint/2010/main" val="3650780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D497F3F-F2B1-1BD0-C4B7-92E6637672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16DF5F5-BB77-4125-D033-BACD4B8CDD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50703F8-C287-6DA2-ABF9-D436C4EDAD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A684D6-C116-4B88-A091-87E1D0234432}" type="datetimeFigureOut">
              <a:rPr kumimoji="1" lang="ja-JP" altLang="en-US" smtClean="0"/>
              <a:t>2026/5/20</a:t>
            </a:fld>
            <a:endParaRPr kumimoji="1" lang="ja-JP" altLang="en-US"/>
          </a:p>
        </p:txBody>
      </p:sp>
      <p:sp>
        <p:nvSpPr>
          <p:cNvPr id="5" name="フッター プレースホルダー 4">
            <a:extLst>
              <a:ext uri="{FF2B5EF4-FFF2-40B4-BE49-F238E27FC236}">
                <a16:creationId xmlns:a16="http://schemas.microsoft.com/office/drawing/2014/main" id="{3C827BE6-F2D0-D707-8C93-67DE990E27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27200B7-B408-32FE-D33E-CC504D7EFC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666DD8-89E4-4801-A2BE-4405492756BB}" type="slidenum">
              <a:rPr kumimoji="1" lang="ja-JP" altLang="en-US" smtClean="0"/>
              <a:t>‹#›</a:t>
            </a:fld>
            <a:endParaRPr kumimoji="1" lang="ja-JP" altLang="en-US"/>
          </a:p>
        </p:txBody>
      </p:sp>
    </p:spTree>
    <p:extLst>
      <p:ext uri="{BB962C8B-B14F-4D97-AF65-F5344CB8AC3E}">
        <p14:creationId xmlns:p14="http://schemas.microsoft.com/office/powerpoint/2010/main" val="31214686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54CFD8-1383-F74C-4A8C-6E3ABB2EF5B1}"/>
              </a:ext>
            </a:extLst>
          </p:cNvPr>
          <p:cNvSpPr>
            <a:spLocks noGrp="1"/>
          </p:cNvSpPr>
          <p:nvPr>
            <p:ph type="ctrTitle"/>
          </p:nvPr>
        </p:nvSpPr>
        <p:spPr/>
        <p:txBody>
          <a:bodyPr/>
          <a:lstStyle/>
          <a:p>
            <a:r>
              <a:rPr kumimoji="1" lang="en-US" altLang="ja-JP" dirty="0"/>
              <a:t>Mobile</a:t>
            </a:r>
            <a:r>
              <a:rPr kumimoji="1" lang="ja-JP" altLang="en-US" dirty="0"/>
              <a:t>アプリ仕様書</a:t>
            </a:r>
          </a:p>
        </p:txBody>
      </p:sp>
      <p:sp>
        <p:nvSpPr>
          <p:cNvPr id="3" name="字幕 2">
            <a:extLst>
              <a:ext uri="{FF2B5EF4-FFF2-40B4-BE49-F238E27FC236}">
                <a16:creationId xmlns:a16="http://schemas.microsoft.com/office/drawing/2014/main" id="{2EC64D3B-2971-0512-B014-903F5E9BC14A}"/>
              </a:ext>
            </a:extLst>
          </p:cNvPr>
          <p:cNvSpPr>
            <a:spLocks noGrp="1"/>
          </p:cNvSpPr>
          <p:nvPr>
            <p:ph type="subTitle" idx="1"/>
          </p:nvPr>
        </p:nvSpPr>
        <p:spPr/>
        <p:txBody>
          <a:bodyPr/>
          <a:lstStyle/>
          <a:p>
            <a:r>
              <a:rPr kumimoji="1" lang="ja-JP" altLang="en-US" dirty="0"/>
              <a:t>小林健人</a:t>
            </a:r>
          </a:p>
        </p:txBody>
      </p:sp>
    </p:spTree>
    <p:extLst>
      <p:ext uri="{BB962C8B-B14F-4D97-AF65-F5344CB8AC3E}">
        <p14:creationId xmlns:p14="http://schemas.microsoft.com/office/powerpoint/2010/main" val="1284374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4D2AD20-0DC4-B5FB-F2EC-095879C78044}"/>
              </a:ext>
            </a:extLst>
          </p:cNvPr>
          <p:cNvSpPr txBox="1"/>
          <p:nvPr/>
        </p:nvSpPr>
        <p:spPr>
          <a:xfrm>
            <a:off x="788670" y="839462"/>
            <a:ext cx="7011162" cy="523220"/>
          </a:xfrm>
          <a:prstGeom prst="rect">
            <a:avLst/>
          </a:prstGeom>
          <a:noFill/>
        </p:spPr>
        <p:txBody>
          <a:bodyPr wrap="square">
            <a:spAutoFit/>
          </a:bodyPr>
          <a:lstStyle/>
          <a:p>
            <a:r>
              <a:rPr lang="ja-JP" altLang="en-US" sz="2800" b="1" dirty="0"/>
              <a:t>■バイト収入・シフト自動計算アプリ</a:t>
            </a:r>
          </a:p>
        </p:txBody>
      </p:sp>
      <p:sp>
        <p:nvSpPr>
          <p:cNvPr id="5" name="テキスト ボックス 4">
            <a:extLst>
              <a:ext uri="{FF2B5EF4-FFF2-40B4-BE49-F238E27FC236}">
                <a16:creationId xmlns:a16="http://schemas.microsoft.com/office/drawing/2014/main" id="{4F6257B5-E43F-5FEA-80FD-7F3D7EEAAE5B}"/>
              </a:ext>
            </a:extLst>
          </p:cNvPr>
          <p:cNvSpPr txBox="1"/>
          <p:nvPr/>
        </p:nvSpPr>
        <p:spPr>
          <a:xfrm>
            <a:off x="980694" y="2537456"/>
            <a:ext cx="8291322" cy="830997"/>
          </a:xfrm>
          <a:prstGeom prst="rect">
            <a:avLst/>
          </a:prstGeom>
          <a:noFill/>
        </p:spPr>
        <p:txBody>
          <a:bodyPr wrap="square">
            <a:spAutoFit/>
          </a:bodyPr>
          <a:lstStyle/>
          <a:p>
            <a:r>
              <a:rPr lang="ja-JP" altLang="en-US" sz="2400" dirty="0"/>
              <a:t>〇アルバイト従業員がシフト・勤務時間・収入を手軽に</a:t>
            </a:r>
            <a:endParaRPr lang="en-US" altLang="ja-JP" sz="2400" dirty="0"/>
          </a:p>
          <a:p>
            <a:r>
              <a:rPr lang="ja-JP" altLang="en-US" sz="2400" dirty="0"/>
              <a:t>　管理できるアプリ/サイトを提供する</a:t>
            </a:r>
          </a:p>
        </p:txBody>
      </p:sp>
      <p:sp>
        <p:nvSpPr>
          <p:cNvPr id="7" name="テキスト ボックス 6">
            <a:extLst>
              <a:ext uri="{FF2B5EF4-FFF2-40B4-BE49-F238E27FC236}">
                <a16:creationId xmlns:a16="http://schemas.microsoft.com/office/drawing/2014/main" id="{191C6C63-A50F-367D-F2F5-D8C261532377}"/>
              </a:ext>
            </a:extLst>
          </p:cNvPr>
          <p:cNvSpPr txBox="1"/>
          <p:nvPr/>
        </p:nvSpPr>
        <p:spPr>
          <a:xfrm>
            <a:off x="1247013" y="1959469"/>
            <a:ext cx="6094476" cy="523220"/>
          </a:xfrm>
          <a:prstGeom prst="rect">
            <a:avLst/>
          </a:prstGeom>
          <a:noFill/>
        </p:spPr>
        <p:txBody>
          <a:bodyPr wrap="square">
            <a:spAutoFit/>
          </a:bodyPr>
          <a:lstStyle/>
          <a:p>
            <a:r>
              <a:rPr lang="ja-JP" altLang="en-US" sz="2800" b="1" dirty="0"/>
              <a:t>目的</a:t>
            </a:r>
          </a:p>
        </p:txBody>
      </p:sp>
      <p:sp>
        <p:nvSpPr>
          <p:cNvPr id="9" name="テキスト ボックス 8">
            <a:extLst>
              <a:ext uri="{FF2B5EF4-FFF2-40B4-BE49-F238E27FC236}">
                <a16:creationId xmlns:a16="http://schemas.microsoft.com/office/drawing/2014/main" id="{EA4AFE93-D479-11D2-AECA-48EFF4D9D26E}"/>
              </a:ext>
            </a:extLst>
          </p:cNvPr>
          <p:cNvSpPr txBox="1"/>
          <p:nvPr/>
        </p:nvSpPr>
        <p:spPr>
          <a:xfrm>
            <a:off x="980694" y="4351203"/>
            <a:ext cx="6094476" cy="1569660"/>
          </a:xfrm>
          <a:prstGeom prst="rect">
            <a:avLst/>
          </a:prstGeom>
          <a:noFill/>
        </p:spPr>
        <p:txBody>
          <a:bodyPr wrap="square">
            <a:spAutoFit/>
          </a:bodyPr>
          <a:lstStyle/>
          <a:p>
            <a:r>
              <a:rPr lang="ja-JP" altLang="en-US" sz="2400" dirty="0"/>
              <a:t>〇バイトしている人</a:t>
            </a:r>
          </a:p>
          <a:p>
            <a:r>
              <a:rPr lang="ja-JP" altLang="en-US" sz="2400" dirty="0"/>
              <a:t>　・高校生～30代前半</a:t>
            </a:r>
          </a:p>
          <a:p>
            <a:r>
              <a:rPr lang="ja-JP" altLang="en-US" sz="2400" dirty="0"/>
              <a:t>〇バイト掛け持ちしている人</a:t>
            </a:r>
            <a:endParaRPr lang="en-US" altLang="ja-JP" sz="2400" dirty="0"/>
          </a:p>
          <a:p>
            <a:r>
              <a:rPr lang="ja-JP" altLang="en-US" sz="2400" dirty="0"/>
              <a:t>〇シフト管理がめんどくさい人</a:t>
            </a:r>
          </a:p>
        </p:txBody>
      </p:sp>
      <p:sp>
        <p:nvSpPr>
          <p:cNvPr id="11" name="テキスト ボックス 10">
            <a:extLst>
              <a:ext uri="{FF2B5EF4-FFF2-40B4-BE49-F238E27FC236}">
                <a16:creationId xmlns:a16="http://schemas.microsoft.com/office/drawing/2014/main" id="{490970E8-F00A-902B-D626-8D668A85A5C6}"/>
              </a:ext>
            </a:extLst>
          </p:cNvPr>
          <p:cNvSpPr txBox="1"/>
          <p:nvPr/>
        </p:nvSpPr>
        <p:spPr>
          <a:xfrm>
            <a:off x="1173861" y="3827983"/>
            <a:ext cx="6094476" cy="523220"/>
          </a:xfrm>
          <a:prstGeom prst="rect">
            <a:avLst/>
          </a:prstGeom>
          <a:noFill/>
        </p:spPr>
        <p:txBody>
          <a:bodyPr wrap="square">
            <a:spAutoFit/>
          </a:bodyPr>
          <a:lstStyle/>
          <a:p>
            <a:r>
              <a:rPr lang="ja-JP" altLang="en-US" sz="2800" b="1" dirty="0"/>
              <a:t>ターゲット</a:t>
            </a:r>
          </a:p>
        </p:txBody>
      </p:sp>
    </p:spTree>
    <p:extLst>
      <p:ext uri="{BB962C8B-B14F-4D97-AF65-F5344CB8AC3E}">
        <p14:creationId xmlns:p14="http://schemas.microsoft.com/office/powerpoint/2010/main" val="3763820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64B28-9C70-1E7F-26B8-26DE75B389D6}"/>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A653507D-8F57-CC91-F258-6B477093877B}"/>
              </a:ext>
            </a:extLst>
          </p:cNvPr>
          <p:cNvSpPr txBox="1"/>
          <p:nvPr/>
        </p:nvSpPr>
        <p:spPr>
          <a:xfrm>
            <a:off x="1364742" y="1663744"/>
            <a:ext cx="8382762" cy="3785652"/>
          </a:xfrm>
          <a:prstGeom prst="rect">
            <a:avLst/>
          </a:prstGeom>
          <a:noFill/>
        </p:spPr>
        <p:txBody>
          <a:bodyPr wrap="square">
            <a:spAutoFit/>
          </a:bodyPr>
          <a:lstStyle/>
          <a:p>
            <a:r>
              <a:rPr lang="ja-JP" altLang="en-US" sz="2400" dirty="0"/>
              <a:t>〇シフト入力</a:t>
            </a:r>
            <a:endParaRPr lang="en-US" altLang="ja-JP" sz="2400" dirty="0"/>
          </a:p>
          <a:p>
            <a:r>
              <a:rPr lang="en-US" altLang="ja-JP" sz="2400" dirty="0"/>
              <a:t>※</a:t>
            </a:r>
            <a:r>
              <a:rPr lang="ja-JP" altLang="en-US" sz="2400" dirty="0"/>
              <a:t>できれば画像送ると自動入力</a:t>
            </a:r>
          </a:p>
          <a:p>
            <a:r>
              <a:rPr lang="ja-JP" altLang="en-US" sz="2400" dirty="0"/>
              <a:t>〇時給などの条件入力</a:t>
            </a:r>
          </a:p>
          <a:p>
            <a:r>
              <a:rPr lang="ja-JP" altLang="en-US" sz="2400" dirty="0"/>
              <a:t>〇実績入力</a:t>
            </a:r>
          </a:p>
          <a:p>
            <a:r>
              <a:rPr lang="ja-JP" altLang="en-US" sz="2400" dirty="0"/>
              <a:t>・働いた時間、遅刻・残業時間を入力/修正</a:t>
            </a:r>
          </a:p>
          <a:p>
            <a:r>
              <a:rPr lang="ja-JP" altLang="en-US" sz="2400" dirty="0"/>
              <a:t>〇合計金額の計算</a:t>
            </a:r>
          </a:p>
          <a:p>
            <a:r>
              <a:rPr lang="ja-JP" altLang="en-US" sz="2400" dirty="0"/>
              <a:t>〇月ごとの収支履歴</a:t>
            </a:r>
          </a:p>
          <a:p>
            <a:r>
              <a:rPr lang="ja-JP" altLang="en-US" sz="2400" dirty="0"/>
              <a:t>・過去の月ごとの給与実績を一覧で確認</a:t>
            </a:r>
          </a:p>
          <a:p>
            <a:r>
              <a:rPr lang="ja-JP" altLang="en-US" sz="2400" dirty="0"/>
              <a:t>〇複数バイト管理</a:t>
            </a:r>
            <a:endParaRPr lang="en-US" altLang="ja-JP" sz="2400" dirty="0"/>
          </a:p>
          <a:p>
            <a:r>
              <a:rPr lang="ja-JP" altLang="en-US" sz="2400" dirty="0"/>
              <a:t>〇有給時間計算</a:t>
            </a:r>
            <a:endParaRPr lang="en-US" altLang="ja-JP" sz="2400" dirty="0"/>
          </a:p>
        </p:txBody>
      </p:sp>
      <p:sp>
        <p:nvSpPr>
          <p:cNvPr id="5" name="テキスト ボックス 4">
            <a:extLst>
              <a:ext uri="{FF2B5EF4-FFF2-40B4-BE49-F238E27FC236}">
                <a16:creationId xmlns:a16="http://schemas.microsoft.com/office/drawing/2014/main" id="{64532EE4-8C37-5AC3-D728-F5CB9D7C2678}"/>
              </a:ext>
            </a:extLst>
          </p:cNvPr>
          <p:cNvSpPr txBox="1"/>
          <p:nvPr/>
        </p:nvSpPr>
        <p:spPr>
          <a:xfrm>
            <a:off x="1035558" y="771656"/>
            <a:ext cx="6094476" cy="523220"/>
          </a:xfrm>
          <a:prstGeom prst="rect">
            <a:avLst/>
          </a:prstGeom>
          <a:noFill/>
        </p:spPr>
        <p:txBody>
          <a:bodyPr wrap="square">
            <a:spAutoFit/>
          </a:bodyPr>
          <a:lstStyle/>
          <a:p>
            <a:r>
              <a:rPr lang="ja-JP" altLang="en-US" sz="2800" b="1" dirty="0"/>
              <a:t>■機能</a:t>
            </a:r>
          </a:p>
        </p:txBody>
      </p:sp>
    </p:spTree>
    <p:extLst>
      <p:ext uri="{BB962C8B-B14F-4D97-AF65-F5344CB8AC3E}">
        <p14:creationId xmlns:p14="http://schemas.microsoft.com/office/powerpoint/2010/main" val="933976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3B03A-9E86-D06D-DF99-CD48B1E2D0D1}"/>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F3E7368E-AE1C-F017-6E4C-1C52D1465D2B}"/>
              </a:ext>
            </a:extLst>
          </p:cNvPr>
          <p:cNvSpPr txBox="1"/>
          <p:nvPr/>
        </p:nvSpPr>
        <p:spPr>
          <a:xfrm>
            <a:off x="1282446" y="1817638"/>
            <a:ext cx="8730234" cy="3785652"/>
          </a:xfrm>
          <a:prstGeom prst="rect">
            <a:avLst/>
          </a:prstGeom>
          <a:noFill/>
        </p:spPr>
        <p:txBody>
          <a:bodyPr wrap="square">
            <a:spAutoFit/>
          </a:bodyPr>
          <a:lstStyle/>
          <a:p>
            <a:r>
              <a:rPr lang="ja-JP" altLang="en-US" sz="2400" dirty="0"/>
              <a:t>〇登録方法</a:t>
            </a:r>
          </a:p>
          <a:p>
            <a:r>
              <a:rPr lang="ja-JP" altLang="en-US" sz="2400" dirty="0"/>
              <a:t>メールアドレス・パスワード</a:t>
            </a:r>
            <a:endParaRPr lang="en-US" altLang="ja-JP" sz="2400" dirty="0"/>
          </a:p>
          <a:p>
            <a:endParaRPr lang="ja-JP" altLang="en-US" sz="2400" dirty="0"/>
          </a:p>
          <a:p>
            <a:r>
              <a:rPr lang="ja-JP" altLang="en-US" sz="2400" dirty="0"/>
              <a:t>〇必須情報</a:t>
            </a:r>
          </a:p>
          <a:p>
            <a:r>
              <a:rPr lang="ja-JP" altLang="en-US" sz="2400" dirty="0"/>
              <a:t>ニックネーム(任意)、メールアドレス、パスワード</a:t>
            </a:r>
            <a:endParaRPr lang="en-US" altLang="ja-JP" sz="2400" dirty="0"/>
          </a:p>
          <a:p>
            <a:endParaRPr lang="ja-JP" altLang="en-US" sz="2400" dirty="0"/>
          </a:p>
          <a:p>
            <a:r>
              <a:rPr lang="ja-JP" altLang="en-US" sz="2400" dirty="0"/>
              <a:t>〇認証</a:t>
            </a:r>
          </a:p>
          <a:p>
            <a:r>
              <a:rPr lang="ja-JP" altLang="en-US" sz="2400" dirty="0"/>
              <a:t>登録時、メールアドレスの有効性を確認(確認メール送信)を</a:t>
            </a:r>
            <a:endParaRPr lang="en-US" altLang="ja-JP" sz="2400" dirty="0"/>
          </a:p>
          <a:p>
            <a:r>
              <a:rPr lang="ja-JP" altLang="en-US" sz="2400" dirty="0"/>
              <a:t>実施する</a:t>
            </a:r>
            <a:endParaRPr lang="en-US" altLang="ja-JP" sz="2400" dirty="0"/>
          </a:p>
          <a:p>
            <a:r>
              <a:rPr lang="en-US" altLang="ja-JP" sz="2400" dirty="0"/>
              <a:t>※</a:t>
            </a:r>
            <a:r>
              <a:rPr lang="ja-JP" altLang="en-US" sz="2400" dirty="0"/>
              <a:t>できれば</a:t>
            </a:r>
          </a:p>
        </p:txBody>
      </p:sp>
      <p:sp>
        <p:nvSpPr>
          <p:cNvPr id="5" name="テキスト ボックス 4">
            <a:extLst>
              <a:ext uri="{FF2B5EF4-FFF2-40B4-BE49-F238E27FC236}">
                <a16:creationId xmlns:a16="http://schemas.microsoft.com/office/drawing/2014/main" id="{A49417C1-A45C-ACE8-15AC-96476598EB6A}"/>
              </a:ext>
            </a:extLst>
          </p:cNvPr>
          <p:cNvSpPr txBox="1"/>
          <p:nvPr/>
        </p:nvSpPr>
        <p:spPr>
          <a:xfrm>
            <a:off x="898398" y="830318"/>
            <a:ext cx="6094476" cy="523220"/>
          </a:xfrm>
          <a:prstGeom prst="rect">
            <a:avLst/>
          </a:prstGeom>
          <a:noFill/>
        </p:spPr>
        <p:txBody>
          <a:bodyPr wrap="square">
            <a:spAutoFit/>
          </a:bodyPr>
          <a:lstStyle/>
          <a:p>
            <a:r>
              <a:rPr lang="ja-JP" altLang="en-US" sz="2800" b="1" dirty="0"/>
              <a:t>■ユーザー登録・ログイン機能</a:t>
            </a:r>
          </a:p>
        </p:txBody>
      </p:sp>
    </p:spTree>
    <p:extLst>
      <p:ext uri="{BB962C8B-B14F-4D97-AF65-F5344CB8AC3E}">
        <p14:creationId xmlns:p14="http://schemas.microsoft.com/office/powerpoint/2010/main" val="3830150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09D32-348F-CC3A-93AF-5AC5EAE9CA6F}"/>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BA04F59-79D0-9BE4-ABC3-AD8CBCC616AE}"/>
              </a:ext>
            </a:extLst>
          </p:cNvPr>
          <p:cNvSpPr txBox="1"/>
          <p:nvPr/>
        </p:nvSpPr>
        <p:spPr>
          <a:xfrm>
            <a:off x="711327" y="1287053"/>
            <a:ext cx="10769346" cy="5262979"/>
          </a:xfrm>
          <a:prstGeom prst="rect">
            <a:avLst/>
          </a:prstGeom>
          <a:noFill/>
        </p:spPr>
        <p:txBody>
          <a:bodyPr wrap="square">
            <a:spAutoFit/>
          </a:bodyPr>
          <a:lstStyle/>
          <a:p>
            <a:r>
              <a:rPr lang="ja-JP" altLang="en-US" sz="2400" dirty="0"/>
              <a:t>〇アルバイト先名</a:t>
            </a:r>
          </a:p>
          <a:p>
            <a:r>
              <a:rPr lang="ja-JP" altLang="en-US" sz="2400" dirty="0"/>
              <a:t>・任意の名称　※ユーザーが識別するため</a:t>
            </a:r>
            <a:endParaRPr lang="en-US" altLang="ja-JP" sz="2400" dirty="0"/>
          </a:p>
          <a:p>
            <a:endParaRPr lang="ja-JP" altLang="en-US" sz="2400" dirty="0"/>
          </a:p>
          <a:p>
            <a:r>
              <a:rPr lang="ja-JP" altLang="en-US" sz="2400" dirty="0"/>
              <a:t>〇基本時給</a:t>
            </a:r>
          </a:p>
          <a:p>
            <a:r>
              <a:rPr lang="ja-JP" altLang="en-US" sz="2400" dirty="0"/>
              <a:t>・￥　※基本となる時間給</a:t>
            </a:r>
            <a:endParaRPr lang="en-US" altLang="ja-JP" sz="2400" dirty="0"/>
          </a:p>
          <a:p>
            <a:endParaRPr lang="ja-JP" altLang="en-US" sz="2400" dirty="0"/>
          </a:p>
          <a:p>
            <a:r>
              <a:rPr lang="ja-JP" altLang="en-US" sz="2400" dirty="0"/>
              <a:t>〇交通費</a:t>
            </a:r>
          </a:p>
          <a:p>
            <a:r>
              <a:rPr lang="ja-JP" altLang="en-US" sz="2400" dirty="0"/>
              <a:t>・￥　※日額または月額での設定を選択可能</a:t>
            </a:r>
            <a:endParaRPr lang="en-US" altLang="ja-JP" sz="2400" dirty="0"/>
          </a:p>
          <a:p>
            <a:endParaRPr lang="ja-JP" altLang="en-US" sz="2400" dirty="0"/>
          </a:p>
          <a:p>
            <a:r>
              <a:rPr lang="ja-JP" altLang="en-US" sz="2400" dirty="0"/>
              <a:t>〇給料計算期間</a:t>
            </a:r>
          </a:p>
          <a:p>
            <a:r>
              <a:rPr lang="ja-JP" altLang="en-US" sz="2400" dirty="0"/>
              <a:t>・毎月1日～末日、毎月15日締めなど　※勤務実績の集計期間を定義</a:t>
            </a:r>
            <a:endParaRPr lang="en-US" altLang="ja-JP" sz="2400" dirty="0"/>
          </a:p>
          <a:p>
            <a:endParaRPr lang="ja-JP" altLang="en-US" sz="2400" dirty="0"/>
          </a:p>
          <a:p>
            <a:r>
              <a:rPr lang="ja-JP" altLang="en-US" sz="2400" dirty="0"/>
              <a:t>〇深夜割増設定</a:t>
            </a:r>
          </a:p>
          <a:p>
            <a:r>
              <a:rPr lang="ja-JP" altLang="en-US" sz="2400" dirty="0"/>
              <a:t>・割増率(%)と適用時間帯(例:22:00～5:00)　※割増計算が必要な場合に設定</a:t>
            </a:r>
          </a:p>
        </p:txBody>
      </p:sp>
      <p:sp>
        <p:nvSpPr>
          <p:cNvPr id="5" name="テキスト ボックス 4">
            <a:extLst>
              <a:ext uri="{FF2B5EF4-FFF2-40B4-BE49-F238E27FC236}">
                <a16:creationId xmlns:a16="http://schemas.microsoft.com/office/drawing/2014/main" id="{25D55A41-E640-730F-C9DC-AFFF754707D7}"/>
              </a:ext>
            </a:extLst>
          </p:cNvPr>
          <p:cNvSpPr txBox="1"/>
          <p:nvPr/>
        </p:nvSpPr>
        <p:spPr>
          <a:xfrm>
            <a:off x="711327" y="418838"/>
            <a:ext cx="6094476" cy="523220"/>
          </a:xfrm>
          <a:prstGeom prst="rect">
            <a:avLst/>
          </a:prstGeom>
          <a:noFill/>
        </p:spPr>
        <p:txBody>
          <a:bodyPr wrap="square">
            <a:spAutoFit/>
          </a:bodyPr>
          <a:lstStyle/>
          <a:p>
            <a:r>
              <a:rPr lang="ja-JP" altLang="en-US" sz="2800" b="1" dirty="0"/>
              <a:t>■アルバイト先情報登録機能</a:t>
            </a:r>
          </a:p>
        </p:txBody>
      </p:sp>
    </p:spTree>
    <p:extLst>
      <p:ext uri="{BB962C8B-B14F-4D97-AF65-F5344CB8AC3E}">
        <p14:creationId xmlns:p14="http://schemas.microsoft.com/office/powerpoint/2010/main" val="3189367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E64F3-EDBF-8CE0-6E92-BC381496D5AA}"/>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1F97FB02-105B-7EAE-93C5-A4C8392CC81A}"/>
              </a:ext>
            </a:extLst>
          </p:cNvPr>
          <p:cNvSpPr txBox="1"/>
          <p:nvPr/>
        </p:nvSpPr>
        <p:spPr>
          <a:xfrm>
            <a:off x="907542" y="1349918"/>
            <a:ext cx="10248138" cy="4893647"/>
          </a:xfrm>
          <a:prstGeom prst="rect">
            <a:avLst/>
          </a:prstGeom>
          <a:noFill/>
        </p:spPr>
        <p:txBody>
          <a:bodyPr wrap="square">
            <a:spAutoFit/>
          </a:bodyPr>
          <a:lstStyle/>
          <a:p>
            <a:r>
              <a:rPr lang="ja-JP" altLang="en-US" sz="2400" dirty="0"/>
              <a:t>〇日付</a:t>
            </a:r>
          </a:p>
          <a:p>
            <a:r>
              <a:rPr lang="ja-JP" altLang="en-US" sz="2400" dirty="0"/>
              <a:t>・自動表示</a:t>
            </a:r>
            <a:endParaRPr lang="en-US" altLang="ja-JP" sz="2400" dirty="0"/>
          </a:p>
          <a:p>
            <a:endParaRPr lang="ja-JP" altLang="en-US" sz="2400" dirty="0"/>
          </a:p>
          <a:p>
            <a:r>
              <a:rPr lang="ja-JP" altLang="en-US" sz="2400" dirty="0"/>
              <a:t>〇バイト先</a:t>
            </a:r>
          </a:p>
          <a:p>
            <a:r>
              <a:rPr lang="ja-JP" altLang="en-US" sz="2400" dirty="0"/>
              <a:t>・登録済みのバイト先を選択　※掛け持ちの場合に選択</a:t>
            </a:r>
            <a:endParaRPr lang="en-US" altLang="ja-JP" sz="2400" dirty="0"/>
          </a:p>
          <a:p>
            <a:endParaRPr lang="ja-JP" altLang="en-US" sz="2400" dirty="0"/>
          </a:p>
          <a:p>
            <a:r>
              <a:rPr lang="ja-JP" altLang="en-US" sz="2400" dirty="0"/>
              <a:t>〇出勤時間</a:t>
            </a:r>
            <a:r>
              <a:rPr lang="en-US" altLang="ja-JP" sz="2400" dirty="0"/>
              <a:t>,</a:t>
            </a:r>
            <a:r>
              <a:rPr lang="ja-JP" altLang="en-US" sz="2400" dirty="0"/>
              <a:t>退勤時間</a:t>
            </a:r>
            <a:r>
              <a:rPr lang="en-US" altLang="ja-JP" sz="2400" dirty="0"/>
              <a:t>,</a:t>
            </a:r>
            <a:r>
              <a:rPr lang="ja-JP" altLang="en-US" sz="2400" dirty="0"/>
              <a:t>休憩時間</a:t>
            </a:r>
          </a:p>
          <a:p>
            <a:r>
              <a:rPr lang="ja-JP" altLang="en-US" sz="2400" dirty="0"/>
              <a:t>・時:分</a:t>
            </a:r>
          </a:p>
          <a:p>
            <a:r>
              <a:rPr lang="ja-JP" altLang="en-US" sz="2400" dirty="0"/>
              <a:t>※勤務時間から自動で控除される</a:t>
            </a:r>
            <a:endParaRPr lang="en-US" altLang="ja-JP" sz="2400" dirty="0"/>
          </a:p>
          <a:p>
            <a:endParaRPr lang="ja-JP" altLang="en-US" sz="2400" dirty="0"/>
          </a:p>
          <a:p>
            <a:r>
              <a:rPr lang="ja-JP" altLang="en-US" sz="2400" dirty="0"/>
              <a:t>〇ステータス</a:t>
            </a:r>
          </a:p>
          <a:p>
            <a:r>
              <a:rPr lang="ja-JP" altLang="en-US" sz="2400" dirty="0"/>
              <a:t>・予定/実績</a:t>
            </a:r>
          </a:p>
          <a:p>
            <a:r>
              <a:rPr lang="ja-JP" altLang="en-US" sz="2400" dirty="0"/>
              <a:t>※実績として登録されたもののみが給与計算の対象となる</a:t>
            </a:r>
          </a:p>
        </p:txBody>
      </p:sp>
      <p:sp>
        <p:nvSpPr>
          <p:cNvPr id="5" name="テキスト ボックス 4">
            <a:extLst>
              <a:ext uri="{FF2B5EF4-FFF2-40B4-BE49-F238E27FC236}">
                <a16:creationId xmlns:a16="http://schemas.microsoft.com/office/drawing/2014/main" id="{FC7D0EBB-DD1A-1AD0-587C-97B0DF02C647}"/>
              </a:ext>
            </a:extLst>
          </p:cNvPr>
          <p:cNvSpPr txBox="1"/>
          <p:nvPr/>
        </p:nvSpPr>
        <p:spPr>
          <a:xfrm>
            <a:off x="523494" y="400550"/>
            <a:ext cx="6094476" cy="523220"/>
          </a:xfrm>
          <a:prstGeom prst="rect">
            <a:avLst/>
          </a:prstGeom>
          <a:noFill/>
        </p:spPr>
        <p:txBody>
          <a:bodyPr wrap="square">
            <a:spAutoFit/>
          </a:bodyPr>
          <a:lstStyle/>
          <a:p>
            <a:r>
              <a:rPr lang="ja-JP" altLang="en-US" sz="2800" b="1" dirty="0"/>
              <a:t>■シフト・勤務実績入力機能</a:t>
            </a:r>
          </a:p>
        </p:txBody>
      </p:sp>
    </p:spTree>
    <p:extLst>
      <p:ext uri="{BB962C8B-B14F-4D97-AF65-F5344CB8AC3E}">
        <p14:creationId xmlns:p14="http://schemas.microsoft.com/office/powerpoint/2010/main" val="3315566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B6604-A66E-4420-37BF-B507F6D94841}"/>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2C93E424-B459-84CD-77FD-0D45C258B6D2}"/>
              </a:ext>
            </a:extLst>
          </p:cNvPr>
          <p:cNvSpPr txBox="1"/>
          <p:nvPr/>
        </p:nvSpPr>
        <p:spPr>
          <a:xfrm>
            <a:off x="1053846" y="1340579"/>
            <a:ext cx="9644634" cy="4708981"/>
          </a:xfrm>
          <a:prstGeom prst="rect">
            <a:avLst/>
          </a:prstGeom>
          <a:noFill/>
        </p:spPr>
        <p:txBody>
          <a:bodyPr wrap="square">
            <a:spAutoFit/>
          </a:bodyPr>
          <a:lstStyle/>
          <a:p>
            <a:r>
              <a:rPr lang="ja-JP" altLang="en-US" sz="2000" dirty="0"/>
              <a:t>〇計算ロジック</a:t>
            </a:r>
          </a:p>
          <a:p>
            <a:r>
              <a:rPr lang="ja-JP" altLang="en-US" sz="2000" dirty="0"/>
              <a:t>・日給</a:t>
            </a:r>
          </a:p>
          <a:p>
            <a:r>
              <a:rPr lang="ja-JP" altLang="en-US" sz="2000" dirty="0"/>
              <a:t>((退勤時間 - 出勤時間 - 休憩時間) × 基本時給)+-交通費</a:t>
            </a:r>
          </a:p>
          <a:p>
            <a:r>
              <a:rPr lang="ja-JP" altLang="en-US" sz="2000" dirty="0"/>
              <a:t>・深夜時間帯に該当する場合、街灯時間分の時給を(基本時給 × 深夜割増率)で計算し、加算する</a:t>
            </a:r>
          </a:p>
          <a:p>
            <a:r>
              <a:rPr lang="ja-JP" altLang="en-US" sz="2000" dirty="0"/>
              <a:t>・月給</a:t>
            </a:r>
          </a:p>
          <a:p>
            <a:r>
              <a:rPr lang="ja-JP" altLang="en-US" sz="2000" dirty="0"/>
              <a:t>計算期間内の日給の合計金額</a:t>
            </a:r>
            <a:endParaRPr lang="en-US" altLang="ja-JP" sz="2000" dirty="0"/>
          </a:p>
          <a:p>
            <a:endParaRPr lang="ja-JP" altLang="en-US" sz="2000" dirty="0"/>
          </a:p>
          <a:p>
            <a:r>
              <a:rPr lang="ja-JP" altLang="en-US" sz="2000" dirty="0"/>
              <a:t>〇表示画面</a:t>
            </a:r>
          </a:p>
          <a:p>
            <a:r>
              <a:rPr lang="ja-JP" altLang="en-US" sz="2000" dirty="0"/>
              <a:t>・ホーム画面</a:t>
            </a:r>
          </a:p>
          <a:p>
            <a:r>
              <a:rPr lang="ja-JP" altLang="en-US" sz="2000" dirty="0"/>
              <a:t>当月の今日うよ計算期間における現時点での見込合計金額を大きく表示</a:t>
            </a:r>
          </a:p>
          <a:p>
            <a:r>
              <a:rPr lang="ja-JP" altLang="en-US" sz="2000" dirty="0"/>
              <a:t>・カレンダー画面</a:t>
            </a:r>
          </a:p>
          <a:p>
            <a:r>
              <a:rPr lang="ja-JP" altLang="en-US" sz="2000" dirty="0"/>
              <a:t>各日付の下に、その日の日給見込額を表示</a:t>
            </a:r>
          </a:p>
          <a:p>
            <a:r>
              <a:rPr lang="ja-JP" altLang="en-US" sz="2000" dirty="0"/>
              <a:t>・履歴画面</a:t>
            </a:r>
          </a:p>
          <a:p>
            <a:r>
              <a:rPr lang="ja-JP" altLang="en-US" sz="2000" dirty="0"/>
              <a:t>過去の月ごとの最終確定給与額を一覧表示</a:t>
            </a:r>
          </a:p>
        </p:txBody>
      </p:sp>
      <p:sp>
        <p:nvSpPr>
          <p:cNvPr id="5" name="テキスト ボックス 4">
            <a:extLst>
              <a:ext uri="{FF2B5EF4-FFF2-40B4-BE49-F238E27FC236}">
                <a16:creationId xmlns:a16="http://schemas.microsoft.com/office/drawing/2014/main" id="{599FDEBD-110C-0F1C-0C75-5C4753F85BBD}"/>
              </a:ext>
            </a:extLst>
          </p:cNvPr>
          <p:cNvSpPr txBox="1"/>
          <p:nvPr/>
        </p:nvSpPr>
        <p:spPr>
          <a:xfrm>
            <a:off x="697230" y="473702"/>
            <a:ext cx="6094476" cy="523220"/>
          </a:xfrm>
          <a:prstGeom prst="rect">
            <a:avLst/>
          </a:prstGeom>
          <a:noFill/>
        </p:spPr>
        <p:txBody>
          <a:bodyPr wrap="square">
            <a:spAutoFit/>
          </a:bodyPr>
          <a:lstStyle/>
          <a:p>
            <a:r>
              <a:rPr lang="ja-JP" altLang="en-US" sz="2800" b="1" dirty="0"/>
              <a:t>■給与見込み計算・表示機能</a:t>
            </a:r>
          </a:p>
        </p:txBody>
      </p:sp>
    </p:spTree>
    <p:extLst>
      <p:ext uri="{BB962C8B-B14F-4D97-AF65-F5344CB8AC3E}">
        <p14:creationId xmlns:p14="http://schemas.microsoft.com/office/powerpoint/2010/main" val="404055331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TotalTime>
  <Words>438</Words>
  <Application>Microsoft Office PowerPoint</Application>
  <PresentationFormat>ワイド画面</PresentationFormat>
  <Paragraphs>77</Paragraphs>
  <Slides>7</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游ゴシック</vt:lpstr>
      <vt:lpstr>游ゴシック Light</vt:lpstr>
      <vt:lpstr>Arial</vt:lpstr>
      <vt:lpstr>Office テーマ</vt:lpstr>
      <vt:lpstr>Mobileアプリ仕様書</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小林 健人(zeal23418160)</dc:creator>
  <cp:lastModifiedBy>小林 健人(zeal23418160)</cp:lastModifiedBy>
  <cp:revision>2</cp:revision>
  <dcterms:created xsi:type="dcterms:W3CDTF">2026-05-20T01:24:24Z</dcterms:created>
  <dcterms:modified xsi:type="dcterms:W3CDTF">2026-05-20T04:49:54Z</dcterms:modified>
</cp:coreProperties>
</file>